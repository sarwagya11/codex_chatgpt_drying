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Opening, casual: this is a working session, not a presentation. The goal is</a:t>
            </a:r>
          </a:p>
          <a:p>
            <a:r>
              <a:t>to walk you through how the E2 and E3 configs are set up, what the</a:t>
            </a:r>
          </a:p>
          <a:p>
            <a:r>
              <a:t>simulations are actually doing, and why we think E2 is the better solar</a:t>
            </a:r>
          </a:p>
          <a:p>
            <a:r>
              <a:t>placement. Then I want to open it up to discuss scaling this to 500-1000 kg</a:t>
            </a:r>
          </a:p>
          <a:p>
            <a:r>
              <a:t>apples and whether a multi-zone chamber makes sense as the next step.</a:t>
            </a:r>
          </a:p>
          <a:p>
            <a:r>
              <a:t>Feel free to interrupt at any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Anchor this number in their head: 0.717 kWh of electricity per kg of water.</a:t>
            </a:r>
          </a:p>
          <a:p>
            <a:r>
              <a:t>  Every improvement from here on is referenced against this.</a:t>
            </a:r>
          </a:p>
          <a:p>
            <a:r>
              <a:t>- Worth pointing out that the closed-loop version (r &gt; 0) is more efficient</a:t>
            </a:r>
          </a:p>
          <a:p>
            <a:r>
              <a:t>  still (0.515 at r=0.9, from V2.1 table), but we use r=0 throughout the</a:t>
            </a:r>
          </a:p>
          <a:p>
            <a:r>
              <a:t>  solar/HRX configs because mixing is not needed once we have waste-heat</a:t>
            </a:r>
          </a:p>
          <a:p>
            <a:r>
              <a:t>  recovery from the HRX and a dedicated evap stream. Happy to discuss.</a:t>
            </a:r>
          </a:p>
          <a:p>
            <a:r>
              <a:t>- Product spec is apple slices, 6 mm thick, 3 kg dry mass, 19.2 kg water</a:t>
            </a:r>
          </a:p>
          <a:p>
            <a:r>
              <a:t>  to remove. Current scale is small, which comes up again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The HRX is a simple air-to-air cross-flow exchanger. The warm, moist</a:t>
            </a:r>
          </a:p>
          <a:p>
            <a:r>
              <a:t>  exhaust gives up its sensible heat to the incoming cold ambient stream.</a:t>
            </a:r>
          </a:p>
          <a:p>
            <a:r>
              <a:t>  70 % effectiveness is a reasonable commercial value.</a:t>
            </a:r>
          </a:p>
          <a:p>
            <a:r>
              <a:t>- The result is strong: 49 % SEC drop over A, from just one passive</a:t>
            </a:r>
          </a:p>
          <a:p>
            <a:r>
              <a:t>  component. No moving parts, no control logic, no electricity.</a:t>
            </a:r>
          </a:p>
          <a:p>
            <a:r>
              <a:t>- D2 is D1 plus dynamic evaporator compensation (the evap sizes itself</a:t>
            </a:r>
          </a:p>
          <a:p>
            <a:r>
              <a:t>  based on instantaneous ambient, not a fixed approach). The incremental</a:t>
            </a:r>
          </a:p>
          <a:p>
            <a:r>
              <a:t>  benefit is tiny, about 1 percentage point. Worth flagging that we</a:t>
            </a:r>
          </a:p>
          <a:p>
            <a:r>
              <a:t>  tested it because we suspected it mattered, and the data says it does</a:t>
            </a:r>
          </a:p>
          <a:p>
            <a:r>
              <a:t>  not, which is itself a useful negative result.</a:t>
            </a:r>
          </a:p>
          <a:p>
            <a:r>
              <a:t>- This sets up the natural next question: can we layer solar on top?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Solar is a preheat. It does not replace the HP. It just reduces the lift</a:t>
            </a:r>
          </a:p>
          <a:p>
            <a:r>
              <a:t>  the HP has to provide.</a:t>
            </a:r>
          </a:p>
          <a:p>
            <a:r>
              <a:t>- Quick numbers: B alone gets us to 0.488 at Kathmandu. D1 alone gets us to</a:t>
            </a:r>
          </a:p>
          <a:p>
            <a:r>
              <a:t>  0.365. So at 1350 m altitude, HRX is more valuable than 10 m² of solar</a:t>
            </a:r>
          </a:p>
          <a:p>
            <a:r>
              <a:t>  by itself. That was a bit surprising when we first saw it, and it</a:t>
            </a:r>
          </a:p>
          <a:p>
            <a:r>
              <a:t>  motivated combining them (E series).</a:t>
            </a:r>
          </a:p>
          <a:p>
            <a:r>
              <a:t>- The ladder chart tells the whole story: each component buys us something.</a:t>
            </a:r>
          </a:p>
          <a:p>
            <a:r>
              <a:t>  The open question: when we combine HRX + solar (E series), where exactly</a:t>
            </a:r>
          </a:p>
          <a:p>
            <a:r>
              <a:t>  should the solar sit in the stream?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This is the crux slide. Two seemingly-equivalent layouts, both deliver</a:t>
            </a:r>
          </a:p>
          <a:p>
            <a:r>
              <a:t>  45 degree air to the chamber. Naively one might guess E3 is better</a:t>
            </a:r>
          </a:p>
          <a:p>
            <a:r>
              <a:t>  because its HP can idle completely in strong sun.</a:t>
            </a:r>
          </a:p>
          <a:p>
            <a:r>
              <a:t>- The control logic is important. In E2 the condenser is the final gate</a:t>
            </a:r>
          </a:p>
          <a:p>
            <a:r>
              <a:t>  and always targets 45. In E3 the collector is the final gate, so the</a:t>
            </a:r>
          </a:p>
          <a:p>
            <a:r>
              <a:t>  HP has to modulate its discharge pressure to leave the solar "just</a:t>
            </a:r>
          </a:p>
          <a:p>
            <a:r>
              <a:t>  enough room" to land exactly at 45.</a:t>
            </a:r>
          </a:p>
          <a:p>
            <a:r>
              <a:t>- Both are physically defensible topologies. Nobody has published a</a:t>
            </a:r>
          </a:p>
          <a:p>
            <a:r>
              <a:t>  head-to-head comparison with a validated thermodynamic model, which is</a:t>
            </a:r>
          </a:p>
          <a:p>
            <a:r>
              <a:t>  why we spent time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Point to T_chamber at 45 flat. That is the control law working.</a:t>
            </a:r>
          </a:p>
          <a:p>
            <a:r>
              <a:t>- Point to W_comp: the compressor never goes to zero during daylight. It</a:t>
            </a:r>
          </a:p>
          <a:p>
            <a:r>
              <a:t>  dips when solar is strong but always keeps some load because the</a:t>
            </a:r>
          </a:p>
          <a:p>
            <a:r>
              <a:t>  condenser is the final heater.</a:t>
            </a:r>
          </a:p>
          <a:p>
            <a:r>
              <a:t>- SEC 0.123 at 10 m2 is a very good number for this climate. The</a:t>
            </a:r>
          </a:p>
          <a:p>
            <a:r>
              <a:t>  reference Config A is 0.500 for autumn KTM at r=0. So E2 is a</a:t>
            </a:r>
          </a:p>
          <a:p>
            <a:r>
              <a:t>  75 percent reduction from the bare HP baseline in autumn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Look at the W_comp trace: it goes flat at zero during peak sun. That is</a:t>
            </a:r>
          </a:p>
          <a:p>
            <a:r>
              <a:t>  the HP stepping out of the way and letting solar do everything.</a:t>
            </a:r>
          </a:p>
          <a:p>
            <a:r>
              <a:t>- Higher COP is real: when the HP does run, it runs at a much lower</a:t>
            </a:r>
          </a:p>
          <a:p>
            <a:r>
              <a:t>  pressure ratio because T_cond is modulated down. So every kWh of</a:t>
            </a:r>
          </a:p>
          <a:p>
            <a:r>
              <a:t>  compressor work delivers more Q_cond.</a:t>
            </a:r>
          </a:p>
          <a:p>
            <a:r>
              <a:t>- Here's the puzzle: E3 has the higher mean COP AND the higher peak COP</a:t>
            </a:r>
          </a:p>
          <a:p>
            <a:r>
              <a:t>  AND no clipping. So why doesn't it win? Transition to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four plots one panel at a time. All numbers are from</a:t>
            </a:r>
          </a:p>
          <a:p>
            <a:r>
              <a:t>master_summary.csv for autumn KTM, 10 m2, r=0.</a:t>
            </a:r>
          </a:p>
          <a:p/>
          <a:p>
            <a:r>
              <a:t>TOP ROW (solar collector output):</a:t>
            </a:r>
          </a:p>
          <a:p>
            <a:r>
              <a:t>- E2 collects 20.95 kWh total; E3 collects 19.77 kWh. Difference is about</a:t>
            </a:r>
          </a:p>
          <a:p>
            <a:r>
              <a:t>  6 percent. Driver: Hottel-Whillier-Bliss says collector efficiency drops</a:t>
            </a:r>
          </a:p>
          <a:p>
            <a:r>
              <a:t>  linearly with (T_inlet - T_amb). In E2 the collector sees HRX output</a:t>
            </a:r>
          </a:p>
          <a:p>
            <a:r>
              <a:t>  directly (~32 C). In E3 the collector sees HRX output plus whatever</a:t>
            </a:r>
          </a:p>
          <a:p>
            <a:r>
              <a:t>  partial lift the condenser has added (~37 C). Cooler inlet = higher</a:t>
            </a:r>
          </a:p>
          <a:p>
            <a:r>
              <a:t>  efficiency = more kWh collected.</a:t>
            </a:r>
          </a:p>
          <a:p>
            <a:r>
              <a:t>- E2 wastes 9.38 kWh (44.8 percent of its haul) because during midday the</a:t>
            </a:r>
          </a:p>
          <a:p>
            <a:r>
              <a:t>  solar alone already pushes the stream above 45 C. Simulator clips to</a:t>
            </a:r>
          </a:p>
          <a:p>
            <a:r>
              <a:t>  T_set; excess is discarded (no storage).</a:t>
            </a:r>
          </a:p>
          <a:p>
            <a:r>
              <a:t>- E3 has zero clipping by design: the condenser modulates T_cond so the</a:t>
            </a:r>
          </a:p>
          <a:p>
            <a:r>
              <a:t>  solar lift lands exactly at 45 C. All 19.77 kWh reaches the chamber.</a:t>
            </a:r>
          </a:p>
          <a:p>
            <a:r>
              <a:t>- Net usable solar: E3 (19.77) beats E2 (11.57).</a:t>
            </a:r>
          </a:p>
          <a:p/>
          <a:p>
            <a:r>
              <a:t>BOTTOM ROW (heat pump):</a:t>
            </a:r>
          </a:p>
          <a:p>
            <a:r>
              <a:t>- E2 HP runs almost continuously at moderate power. No clean OFF zone.</a:t>
            </a:r>
          </a:p>
          <a:p>
            <a:r>
              <a:t>  T_cond pegged at 45 C, so lift is full; mean COP = 5.25.</a:t>
            </a:r>
          </a:p>
          <a:p>
            <a:r>
              <a:t>- E3 HP has a clean OFF window around solar noon (visible as flat zero in</a:t>
            </a:r>
          </a:p>
          <a:p>
            <a:r>
              <a:t>  W_comp trace). When it runs, T_cond is modulated down so the lift is</a:t>
            </a:r>
          </a:p>
          <a:p>
            <a:r>
              <a:t>  smaller; mean COP = 6.53 (25 percent higher than E2).</a:t>
            </a:r>
          </a:p>
          <a:p/>
          <a:p>
            <a:r>
              <a:t>THE PARADOX (bottom band):</a:t>
            </a:r>
          </a:p>
          <a:p>
            <a:r>
              <a:t>- E3 looks better on every individual lever: higher COP, no waste, more</a:t>
            </a:r>
          </a:p>
          <a:p>
            <a:r>
              <a:t>  usable solar delivered.</a:t>
            </a:r>
          </a:p>
          <a:p>
            <a:r>
              <a:t>- Yet simulator says W_comp_E2 (1.96 kWh) &lt; W_comp_E3 (2.16 kWh),</a:t>
            </a:r>
          </a:p>
          <a:p>
            <a:r>
              <a:t>  and SEC follows: E2 at 0.123 vs E3 at 0.133.</a:t>
            </a:r>
          </a:p>
          <a:p>
            <a:r>
              <a:t>- Mechanism from the memory note: E2's collector runs cooler DURING EVERY</a:t>
            </a:r>
          </a:p>
          <a:p>
            <a:r>
              <a:t>  HP-ON HOUR (not just at noon). The accumulated extra solar capture</a:t>
            </a:r>
          </a:p>
          <a:p>
            <a:r>
              <a:t>  across the run (~1.2 kWh autumn) outweighs the COP bonus E3 gets when</a:t>
            </a:r>
          </a:p>
          <a:p>
            <a:r>
              <a:t>  its HP is running.</a:t>
            </a:r>
          </a:p>
          <a:p>
            <a:r>
              <a:t>- This is the piece I want to sanity check with you. Does the physical</a:t>
            </a:r>
          </a:p>
          <a:p>
            <a:r>
              <a:t>  story track, or should we dig into the energy decomposition by hour</a:t>
            </a:r>
          </a:p>
          <a:p>
            <a:r>
              <a:t>  before locking the headline?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Hottel-Whillier-Bliss is the standard flat-plate collector equation.</a:t>
            </a:r>
          </a:p>
          <a:p>
            <a:r>
              <a:t>  The second term is the thermal loss: hotter collector inlet means more</a:t>
            </a:r>
          </a:p>
          <a:p>
            <a:r>
              <a:t>  heat leaks to ambient, lower efficiency.</a:t>
            </a:r>
          </a:p>
          <a:p>
            <a:r>
              <a:t>- In E3, the stream going into the collector has already been lifted by</a:t>
            </a:r>
          </a:p>
          <a:p>
            <a:r>
              <a:t>  the condenser, so it arrives hotter. The collector runs less</a:t>
            </a:r>
          </a:p>
          <a:p>
            <a:r>
              <a:t>  efficiently because it is trying to heat an already-warm stream.</a:t>
            </a:r>
          </a:p>
          <a:p>
            <a:r>
              <a:t>- In E2, the collector inlet is cooler (just ambient + HRX), so it runs</a:t>
            </a:r>
          </a:p>
          <a:p>
            <a:r>
              <a:t>  more efficiently. The HP then "tops off" any remaining lift.</a:t>
            </a:r>
          </a:p>
          <a:p>
            <a:r>
              <a:t>- The COP story is a distraction. Yes E3 has higher COP. But the</a:t>
            </a:r>
          </a:p>
          <a:p>
            <a:r>
              <a:t>  collector inefficiency costs more than the COP gain buys us.</a:t>
            </a:r>
          </a:p>
          <a:p>
            <a:r>
              <a:t>- Practical takeaway: always put the solar upstream of the condenser in</a:t>
            </a:r>
          </a:p>
          <a:p>
            <a:r>
              <a:t>  a series topology. This is the answer to "where should the solar go".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The shaded region on the plot is the waste. It is the slice of the</a:t>
            </a:r>
          </a:p>
          <a:p>
            <a:r>
              <a:t>  solar-lifted stream that is above the 45 set point. The simulator</a:t>
            </a:r>
          </a:p>
          <a:p>
            <a:r>
              <a:t>  reports the full Q_solar from Hottel, but physically that top slice</a:t>
            </a:r>
          </a:p>
          <a:p>
            <a:r>
              <a:t>  never makes it to the chamber.</a:t>
            </a:r>
          </a:p>
          <a:p>
            <a:r>
              <a:t>- Clipping is bounded by the sun, but it is also bounded by the</a:t>
            </a:r>
          </a:p>
          <a:p>
            <a:r>
              <a:t>  thermodynamic state: once the stream approaches T_set from any source,</a:t>
            </a:r>
          </a:p>
          <a:p>
            <a:r>
              <a:t>  even a small solar contribution pushes it over.</a:t>
            </a:r>
          </a:p>
          <a:p>
            <a:r>
              <a:t>- The back-of-envelope threshold: m_da * cp * (T_set - T_hrx_out). With</a:t>
            </a:r>
          </a:p>
          <a:p>
            <a:r>
              <a:t>  m_da around 0.10 kg/s and T_hrx_out around 32 at mid-drying, the</a:t>
            </a:r>
          </a:p>
          <a:p>
            <a:r>
              <a:t>  allowable solar input is about 1.3 kW. At 10 m2 that corresponds to</a:t>
            </a:r>
          </a:p>
          <a:p>
            <a:r>
              <a:t>  roughly 240 W/m2 of irradiance, which is essentially any clear-sky</a:t>
            </a:r>
          </a:p>
          <a:p>
            <a:r>
              <a:t>  daytime hour.</a:t>
            </a:r>
          </a:p>
          <a:p>
            <a:r>
              <a:t>- Key point: this is a thermodynamic limit, not a weather problem. A</a:t>
            </a:r>
          </a:p>
          <a:p>
            <a:r>
              <a:t>  better weather forecast does not help. The fix is storage, which we</a:t>
            </a:r>
          </a:p>
          <a:p>
            <a:r>
              <a:t>  come back to on the last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One might intuitively say: clipping is waste, let's downsize the</a:t>
            </a:r>
          </a:p>
          <a:p>
            <a:r>
              <a:t>  collector. The data says the opposite. Even at 44 percent clipping,</a:t>
            </a:r>
          </a:p>
          <a:p>
            <a:r>
              <a:t>  the remaining usable fraction still does more useful work than a</a:t>
            </a:r>
          </a:p>
          <a:p>
            <a:r>
              <a:t>  smaller collector would.</a:t>
            </a:r>
          </a:p>
          <a:p>
            <a:r>
              <a:t>- Monotonic SEC drop from 0.193 at 2 m2 to 0.123 at 10 m2. No plateau</a:t>
            </a:r>
          </a:p>
          <a:p>
            <a:r>
              <a:t>  in the 2-10 m2 range. We tried 15 and 20 m2 too and still saw small</a:t>
            </a:r>
          </a:p>
          <a:p>
            <a:r>
              <a:t>  improvements.</a:t>
            </a:r>
          </a:p>
          <a:p>
            <a:r>
              <a:t>- Insight: the HP duty cycle drops faster than the collector efficiency</a:t>
            </a:r>
          </a:p>
          <a:p>
            <a:r>
              <a:t>  does. Every kWh of usable solar displaces HP electricity that would</a:t>
            </a:r>
          </a:p>
          <a:p>
            <a:r>
              <a:t>  otherwise have been spent, and the HP duty cycle is the dominant cost.</a:t>
            </a:r>
          </a:p>
          <a:p>
            <a:r>
              <a:t>- The correct engineering response to clipping is thermal storage:</a:t>
            </a:r>
          </a:p>
          <a:p>
            <a:r>
              <a:t>  capture the midday surplus, release it in the evening.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Four seasons, two climates, eight data points. E2 beats E3 on all</a:t>
            </a:r>
          </a:p>
          <a:p>
            <a:r>
              <a:t>  eight. The mechanism is universal, not a fluke of one dataset.</a:t>
            </a:r>
          </a:p>
          <a:p>
            <a:r>
              <a:t>- Spring is the best season at both locations because the sun angle is</a:t>
            </a:r>
          </a:p>
          <a:p>
            <a:r>
              <a:t>  good and the ambient is not yet too hot (low U_L*(T_in - T_amb) loss).</a:t>
            </a:r>
          </a:p>
          <a:p>
            <a:r>
              <a:t>- Biratnagar is always absolute-lower SEC because warmer ambient means</a:t>
            </a:r>
          </a:p>
          <a:p>
            <a:r>
              <a:t>  smaller HP lift and better collector efficiency. But the E2 vs E3</a:t>
            </a:r>
          </a:p>
          <a:p>
            <a:r>
              <a:t>  advantage is almost the same percent.</a:t>
            </a:r>
          </a:p>
          <a:p>
            <a:r>
              <a:t>- If we had time we could run Taplejung (1820 m, even colder) but the</a:t>
            </a:r>
          </a:p>
          <a:p>
            <a:r>
              <a:t>  mechanism would play out the same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This is the slide to anchor credibility. Every config has been</a:t>
            </a:r>
          </a:p>
          <a:p>
            <a:r>
              <a:t>  instrumented with conservation checks that run every timestep.</a:t>
            </a:r>
          </a:p>
          <a:p>
            <a:r>
              <a:t>- The 1.5 percent residual on the first law is worth explaining: it is</a:t>
            </a:r>
          </a:p>
          <a:p>
            <a:r>
              <a:t>  an accounting artifact of decomposing refrigerant enthalpy into</a:t>
            </a:r>
          </a:p>
          <a:p>
            <a:r>
              <a:t>  Q_evap + W_comp. The CoolProp state-point values themselves are</a:t>
            </a:r>
          </a:p>
          <a:p>
            <a:r>
              <a:t>  exact. If we were to use raw enthalpy differences at each state</a:t>
            </a:r>
          </a:p>
          <a:p>
            <a:r>
              <a:t>  point, it would close to zero.</a:t>
            </a:r>
          </a:p>
          <a:p>
            <a:r>
              <a:t>- Water mass balance closes to 0.000 at the per-timestep level. The</a:t>
            </a:r>
          </a:p>
          <a:p>
            <a:r>
              <a:t>  0.8 percent discrepancy versus 19.2 kg target is because the</a:t>
            </a:r>
          </a:p>
          <a:p>
            <a:r>
              <a:t>  simulation stops slightly below X_final = 0.10 (overshoots by a small</a:t>
            </a:r>
          </a:p>
          <a:p>
            <a:r>
              <a:t>  amount).</a:t>
            </a:r>
          </a:p>
          <a:p>
            <a:r>
              <a:t>- The tray plot on the right is a visual sanity check: air enters tray</a:t>
            </a:r>
          </a:p>
          <a:p>
            <a:r>
              <a:t>  1 hot and dry, exits tray 10 cooler and humid. The gradient is</a:t>
            </a:r>
          </a:p>
          <a:p>
            <a:r>
              <a:t>  smooth and monotonic, no numerical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Each of the three gets about 30 seconds of discussion. The first is the</a:t>
            </a:r>
          </a:p>
          <a:p>
            <a:r>
              <a:t>  engineering answer to the research question. The second is a mental</a:t>
            </a:r>
          </a:p>
          <a:p>
            <a:r>
              <a:t>  model correction: COP has been overweighted in the SAHPD literature.</a:t>
            </a:r>
          </a:p>
          <a:p>
            <a:r>
              <a:t>  The third sets up the scale-up slide by pointing at storage as the</a:t>
            </a:r>
          </a:p>
          <a:p>
            <a:r>
              <a:t>  missing piece.</a:t>
            </a:r>
          </a:p>
          <a:p>
            <a:r>
              <a:t>- Offer to open up: does the professor want to discuss any of these?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Current lab scale is 3 kg dry mass. That gets us to interesting physics</a:t>
            </a:r>
          </a:p>
          <a:p>
            <a:r>
              <a:t>  but nowhere near a useful throughput. To dry even one small orchard's</a:t>
            </a:r>
          </a:p>
          <a:p>
            <a:r>
              <a:t>  apple crop in a season we need 500-1000 kg fresh per batch.</a:t>
            </a:r>
          </a:p>
          <a:p>
            <a:r>
              <a:t>- Linear scaling (just make the chamber bigger) does not work. Our</a:t>
            </a:r>
          </a:p>
          <a:p>
            <a:r>
              <a:t>  validation data (V2.3) shows RH climbing from 29 to 84 percent across</a:t>
            </a:r>
          </a:p>
          <a:p>
            <a:r>
              <a:t>  10 trays in wet phase. Add more trays and the tail of the chamber is</a:t>
            </a:r>
          </a:p>
          <a:p>
            <a:r>
              <a:t>  just a hot humid pipe doing no useful work.</a:t>
            </a:r>
          </a:p>
          <a:p>
            <a:r>
              <a:t>- Thermal-zone architecture: split the chamber into N zones, each with</a:t>
            </a:r>
          </a:p>
          <a:p>
            <a:r>
              <a:t>  its own hot-air inlet from a distribution manifold. Each zone sees</a:t>
            </a:r>
          </a:p>
          <a:p>
            <a:r>
              <a:t>  fresh 45 degree air instead of air that already passed through 5 wet</a:t>
            </a:r>
          </a:p>
          <a:p>
            <a:r>
              <a:t>  trays. Every zone operates in a high-VPD regime.</a:t>
            </a:r>
          </a:p>
          <a:p>
            <a:r>
              <a:t>- This also enables per-zone control: a nearly-dry zone can switch to</a:t>
            </a:r>
          </a:p>
          <a:p>
            <a:r>
              <a:t>  condenser-direct bypass early while wet zones still dehumidify. VPD</a:t>
            </a:r>
          </a:p>
          <a:p>
            <a:r>
              <a:t>  bypass logic is already validated in Config A (V3 in the report).</a:t>
            </a:r>
          </a:p>
          <a:p>
            <a:r>
              <a:t>- Open question for discussion: how many zones is optimal? Is there a</a:t>
            </a:r>
          </a:p>
          <a:p>
            <a:r>
              <a:t>  diminishing return? And what is the CAPEX penalty of the manifold</a:t>
            </a:r>
          </a:p>
          <a:p>
            <a:r>
              <a:t>  and multi-fan setup?</a:t>
            </a:r>
          </a:p>
          <a:p>
            <a:r>
              <a:t>- Collector area scales roughly linearly with water mass if we want</a:t>
            </a:r>
          </a:p>
          <a:p>
            <a:r>
              <a:t>  the same SEC. 220 m2 for 500 kg fresh is a realistic rooftop number</a:t>
            </a:r>
          </a:p>
          <a:p>
            <a:r>
              <a:t>  for a small orchard processing building.</a:t>
            </a:r>
          </a:p>
          <a:p>
            <a:r>
              <a:t>- The thermal storage retrofit from the clipping discussion fits in</a:t>
            </a:r>
          </a:p>
          <a:p>
            <a:r>
              <a:t>  here: at 220 m2 the absolute clipped energy is huge, so the case for</a:t>
            </a:r>
          </a:p>
          <a:p>
            <a:r>
              <a:t>  storage gets stronger as we scale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Immediate: the clipping result tells us storage is the lever. Before</a:t>
            </a:r>
          </a:p>
          <a:p>
            <a:r>
              <a:t>  building hardware, run the sim with a simple tank model to see what</a:t>
            </a:r>
          </a:p>
          <a:p>
            <a:r>
              <a:t>  storage fraction recovers the 45 percent waste.</a:t>
            </a:r>
          </a:p>
          <a:p>
            <a:r>
              <a:t>- Medium term: multi-zone model is a bigger undertaking. Need a fresh</a:t>
            </a:r>
          </a:p>
          <a:p>
            <a:r>
              <a:t>  chamber energy/mass balance with N inlets and outlets, and a manifold</a:t>
            </a:r>
          </a:p>
          <a:p>
            <a:r>
              <a:t>  pressure-drop model. Two zone version first, validate against a</a:t>
            </a:r>
          </a:p>
          <a:p>
            <a:r>
              <a:t>  collapse-to-one-zone limit, then go to four.</a:t>
            </a:r>
          </a:p>
          <a:p>
            <a:r>
              <a:t>- Longer term: pilot at a fraction of target capacity before going to</a:t>
            </a:r>
          </a:p>
          <a:p>
            <a:r>
              <a:t>  500 kg. Economic model is critical because Nepal electricity cost</a:t>
            </a:r>
          </a:p>
          <a:p>
            <a:r>
              <a:t>  is low, so SEC wins translate to smaller dollar savings per batch.</a:t>
            </a:r>
          </a:p>
          <a:p>
            <a:r>
              <a:t>- Open questions to the professor at the bottom of the slide are</a:t>
            </a:r>
          </a:p>
          <a:p>
            <a:r>
              <a:t>  intentional prompts. Let him pick which direction to push.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88952" cy="109728"/>
          </a:xfrm>
          <a:prstGeom prst="rect">
            <a:avLst/>
          </a:prstGeom>
          <a:solidFill>
            <a:srgbClr val="E5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4400" b="1" i="0">
                <a:solidFill>
                  <a:srgbClr val="1F3A5F"/>
                </a:solidFill>
              </a:defRPr>
            </a:pPr>
            <a:r>
              <a:t>Where should the solar 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972800" cy="5486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2200" b="0" i="1">
                <a:solidFill>
                  <a:srgbClr val="555555"/>
                </a:solidFill>
              </a:defRPr>
            </a:pPr>
            <a:r>
              <a:t>Comparing E2 vs E3 for the solar-assisted heat pump dryer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10972800" cy="45720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600" b="0" i="0">
                <a:solidFill>
                  <a:srgbClr val="555555"/>
                </a:solidFill>
              </a:defRPr>
            </a:pPr>
            <a:r>
              <a:t>Supervisor discussion, 20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60720"/>
            <a:ext cx="10972800" cy="7315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300" b="0" i="1">
                <a:solidFill>
                  <a:srgbClr val="555555"/>
                </a:solidFill>
              </a:defRPr>
            </a:pPr>
            <a:r>
              <a:t>Agenda: base dryer → HRX → solar placement (E2 vs E3) → clipping → validation → scale-up ideas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Base dryer: Config A (HP only, closed loop)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sz="1300" i="1">
                <a:solidFill>
                  <a:srgbClr val="555555"/>
                </a:solidFill>
              </a:defRPr>
            </a:pPr>
            <a:r>
              <a:t>This is the machine before we add anything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115568"/>
            <a:ext cx="11365992" cy="0"/>
          </a:xfrm>
          <a:prstGeom prst="line">
            <a:avLst/>
          </a:prstGeom>
          <a:ln w="127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14400" y="2011680"/>
            <a:ext cx="914400" cy="731520"/>
          </a:xfrm>
          <a:prstGeom prst="roundRect">
            <a:avLst>
              <a:gd name="adj" fmla="val 15000"/>
            </a:avLst>
          </a:prstGeom>
          <a:solidFill>
            <a:srgbClr val="7A9E9F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Ambient</a:t>
            </a:r>
            <a:br/>
            <a:r>
              <a:t>air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2011680"/>
            <a:ext cx="822960" cy="731520"/>
          </a:xfrm>
          <a:prstGeom prst="roundRect">
            <a:avLst>
              <a:gd name="adj" fmla="val 15000"/>
            </a:avLst>
          </a:prstGeom>
          <a:solidFill>
            <a:srgbClr val="555555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2011680"/>
            <a:ext cx="914400" cy="731520"/>
          </a:xfrm>
          <a:prstGeom prst="roundRect">
            <a:avLst>
              <a:gd name="adj" fmla="val 15000"/>
            </a:avLst>
          </a:prstGeom>
          <a:solidFill>
            <a:srgbClr val="2E86AB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Evap</a:t>
            </a:r>
            <a:br/>
            <a:r>
              <a:t>(dehum.)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39" y="2011680"/>
            <a:ext cx="914400" cy="731520"/>
          </a:xfrm>
          <a:prstGeom prst="roundRect">
            <a:avLst>
              <a:gd name="adj" fmla="val 15000"/>
            </a:avLst>
          </a:prstGeom>
          <a:solidFill>
            <a:srgbClr val="E56B4A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Cond</a:t>
            </a:r>
            <a:br/>
            <a:r>
              <a:t>(heat)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011680"/>
            <a:ext cx="1280160" cy="731520"/>
          </a:xfrm>
          <a:prstGeom prst="roundRect">
            <a:avLst>
              <a:gd name="adj" fmla="val 15000"/>
            </a:avLst>
          </a:prstGeom>
          <a:solidFill>
            <a:srgbClr val="1F3A5F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Chamber</a:t>
            </a:r>
            <a:br/>
            <a:r>
              <a:t>(10 trays)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011680"/>
            <a:ext cx="914400" cy="731520"/>
          </a:xfrm>
          <a:prstGeom prst="roundRect">
            <a:avLst>
              <a:gd name="adj" fmla="val 15000"/>
            </a:avLst>
          </a:prstGeom>
          <a:solidFill>
            <a:srgbClr val="555555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Exhaust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28800" y="2377440"/>
            <a:ext cx="365760" cy="0"/>
          </a:xfrm>
          <a:prstGeom prst="line">
            <a:avLst/>
          </a:prstGeom>
          <a:ln w="19050">
            <a:solidFill>
              <a:srgbClr val="22222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17520" y="2377440"/>
            <a:ext cx="365760" cy="0"/>
          </a:xfrm>
          <a:prstGeom prst="line">
            <a:avLst/>
          </a:prstGeom>
          <a:ln w="19050">
            <a:solidFill>
              <a:srgbClr val="22222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97680" y="2377440"/>
            <a:ext cx="365759" cy="0"/>
          </a:xfrm>
          <a:prstGeom prst="line">
            <a:avLst/>
          </a:prstGeom>
          <a:ln w="19050">
            <a:solidFill>
              <a:srgbClr val="22222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577839" y="2377440"/>
            <a:ext cx="365761" cy="0"/>
          </a:xfrm>
          <a:prstGeom prst="line">
            <a:avLst/>
          </a:prstGeom>
          <a:ln w="19050">
            <a:solidFill>
              <a:srgbClr val="22222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223760" y="2377440"/>
            <a:ext cx="365760" cy="0"/>
          </a:xfrm>
          <a:prstGeom prst="line">
            <a:avLst/>
          </a:prstGeom>
          <a:ln w="19050">
            <a:solidFill>
              <a:srgbClr val="22222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606040.0" y="2743200"/>
            <a:ext cx="5440680.0" cy="731520"/>
          </a:xfrm>
          <a:prstGeom prst="line">
            <a:avLst/>
          </a:prstGeom>
          <a:ln w="15240">
            <a:solidFill>
              <a:srgbClr val="E56B4A"/>
            </a:solidFill>
            <a:prstDash val="lg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606040.0" y="2743200"/>
            <a:ext cx="0.0" cy="731520"/>
          </a:xfrm>
          <a:prstGeom prst="line">
            <a:avLst/>
          </a:prstGeom>
          <a:ln w="15240">
            <a:solidFill>
              <a:srgbClr val="E56B4A"/>
            </a:solidFill>
            <a:prstDash val="lg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46720.0" y="2743200"/>
            <a:ext cx="0.0" cy="731520"/>
          </a:xfrm>
          <a:prstGeom prst="line">
            <a:avLst/>
          </a:prstGeom>
          <a:ln w="15240">
            <a:solidFill>
              <a:srgbClr val="E56B4A"/>
            </a:solidFill>
            <a:prstDash val="lg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606040.0" y="3474720"/>
            <a:ext cx="5440680.0" cy="0"/>
          </a:xfrm>
          <a:prstGeom prst="line">
            <a:avLst/>
          </a:prstGeom>
          <a:ln w="15240">
            <a:solidFill>
              <a:srgbClr val="E56B4A"/>
            </a:solidFill>
            <a:prstDash val="lg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840480" y="3429000"/>
            <a:ext cx="365760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000" b="0" i="1">
                <a:solidFill>
                  <a:srgbClr val="E56B4A"/>
                </a:solidFill>
              </a:defRPr>
            </a:pPr>
            <a:r>
              <a:t>recirculation r (closed loop)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1737360"/>
            <a:ext cx="2377439" cy="1188720"/>
          </a:xfrm>
          <a:prstGeom prst="rect">
            <a:avLst/>
          </a:prstGeom>
          <a:noFill/>
          <a:ln w="9525">
            <a:solidFill>
              <a:srgbClr val="555555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1691640"/>
            <a:ext cx="2194560" cy="256032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000" b="0" i="1">
                <a:solidFill>
                  <a:srgbClr val="555555"/>
                </a:solidFill>
              </a:defRPr>
            </a:pPr>
            <a:r>
              <a:t>Heat pump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749039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222222"/>
                </a:solidFill>
              </a:defRPr>
            </a:pPr>
            <a:r>
              <a:t>•  HP condenser always heats to T_set = 45 °C; chamber holds exactly that (validated, V1.1).</a:t>
            </a:r>
          </a:p>
          <a:p>
            <a:pPr>
              <a:lnSpc>
                <a:spcPct val="120000"/>
              </a:lnSpc>
              <a:defRPr sz="1400">
                <a:solidFill>
                  <a:srgbClr val="222222"/>
                </a:solidFill>
              </a:defRPr>
            </a:pPr>
            <a:r>
              <a:t>•  Fresh apples: 22.5 kg wet ≈ 3 kg dry. Water to remove: 19.2 kg. Drying time 13.8 h.</a:t>
            </a:r>
          </a:p>
          <a:p>
            <a:pPr>
              <a:lnSpc>
                <a:spcPct val="120000"/>
              </a:lnSpc>
              <a:defRPr sz="1400">
                <a:solidFill>
                  <a:srgbClr val="222222"/>
                </a:solidFill>
              </a:defRPr>
            </a:pPr>
            <a:r>
              <a:t>•  10 trays in series, cross-flow, 1.1 m/s. Ambient air enters, humid exhaust leaves.</a:t>
            </a:r>
          </a:p>
          <a:p>
            <a:pPr>
              <a:lnSpc>
                <a:spcPct val="120000"/>
              </a:lnSpc>
              <a:defRPr sz="1400">
                <a:solidFill>
                  <a:srgbClr val="222222"/>
                </a:solidFill>
              </a:defRPr>
            </a:pPr>
            <a:r>
              <a:t>•  Recirculation path shown dashed; in this discussion the r=0 (open-loop) SEC is our anchor.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5394960"/>
            <a:ext cx="3474720" cy="1097280"/>
          </a:xfrm>
          <a:prstGeom prst="roundRect">
            <a:avLst/>
          </a:prstGeom>
          <a:solidFill>
            <a:srgbClr val="EEEEEE"/>
          </a:solidFill>
          <a:ln w="1524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5440680"/>
            <a:ext cx="3474720" cy="36576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1200" b="1" i="0">
                <a:solidFill>
                  <a:srgbClr val="1F3A5F"/>
                </a:solidFill>
              </a:defRPr>
            </a:pPr>
            <a:r>
              <a:t>Config A baseline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5806440"/>
            <a:ext cx="3474720" cy="45720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2000" b="1" i="0">
                <a:solidFill>
                  <a:srgbClr val="E56B4A"/>
                </a:solidFill>
              </a:defRPr>
            </a:pPr>
            <a:r>
              <a:t>SEC = 0.717 kWh/kg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6172200"/>
            <a:ext cx="347472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1000" b="0" i="1">
                <a:solidFill>
                  <a:srgbClr val="555555"/>
                </a:solidFill>
              </a:defRPr>
            </a:pPr>
            <a:r>
              <a:t>Kathmandu, annual, r = 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Step 1: add a heat-recovery exchanger (Config D1)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sz="1300" i="1">
                <a:solidFill>
                  <a:srgbClr val="555555"/>
                </a:solidFill>
              </a:defRPr>
            </a:pPr>
            <a:r>
              <a:t>Exhaust pre-heats the condenser inlet through a 70 % effective HRX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115568"/>
            <a:ext cx="11365992" cy="0"/>
          </a:xfrm>
          <a:prstGeom prst="line">
            <a:avLst/>
          </a:prstGeom>
          <a:ln w="127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hrx_detail_kathmand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814175" cy="5029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463040"/>
            <a:ext cx="4114800" cy="4389120"/>
          </a:xfrm>
          <a:prstGeom prst="roundRect">
            <a:avLst/>
          </a:prstGeom>
          <a:solidFill>
            <a:srgbClr val="EEEEEE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600200"/>
            <a:ext cx="3931920" cy="36576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1200" b="1" i="0">
                <a:solidFill>
                  <a:srgbClr val="1F3A5F"/>
                </a:solidFill>
              </a:defRPr>
            </a:pPr>
            <a:r>
              <a:t>Kathmandu annual, r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103120"/>
            <a:ext cx="228600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200" b="1" i="0">
                <a:solidFill>
                  <a:srgbClr val="222222"/>
                </a:solidFill>
              </a:defRPr>
            </a:pPr>
            <a:r>
              <a:t>Config A (HP only)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2103120"/>
            <a:ext cx="155448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600" b="1" i="0">
                <a:solidFill>
                  <a:srgbClr val="555555"/>
                </a:solidFill>
              </a:defRPr>
            </a:pPr>
            <a:r>
              <a:t>0.717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450592"/>
            <a:ext cx="3749039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000" b="0" i="1">
                <a:solidFill>
                  <a:srgbClr val="555555"/>
                </a:solidFill>
              </a:defRPr>
            </a:pPr>
            <a:r>
              <a:t>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880360"/>
            <a:ext cx="228600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200" b="1" i="0">
                <a:solidFill>
                  <a:srgbClr val="222222"/>
                </a:solidFill>
              </a:defRPr>
            </a:pPr>
            <a:r>
              <a:t>Config D1 (HP + HRX)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2880360"/>
            <a:ext cx="155448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600" b="1" i="0">
                <a:solidFill>
                  <a:srgbClr val="2E86AB"/>
                </a:solidFill>
              </a:defRPr>
            </a:pPr>
            <a:r>
              <a:t>0.365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227832"/>
            <a:ext cx="3749039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000" b="0" i="1">
                <a:solidFill>
                  <a:srgbClr val="555555"/>
                </a:solidFill>
              </a:defRPr>
            </a:pPr>
            <a:r>
              <a:t>49 % lower than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657600"/>
            <a:ext cx="228600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200" b="1" i="0">
                <a:solidFill>
                  <a:srgbClr val="222222"/>
                </a:solidFill>
              </a:defRPr>
            </a:pPr>
            <a:r>
              <a:t>Config D2 (HRX + dyn evap)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3657600"/>
            <a:ext cx="155448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600" b="1" i="0">
                <a:solidFill>
                  <a:srgbClr val="2E86AB"/>
                </a:solidFill>
              </a:defRPr>
            </a:pPr>
            <a:r>
              <a:t>0.354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005072"/>
            <a:ext cx="3749039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000" b="0" i="1">
                <a:solidFill>
                  <a:srgbClr val="555555"/>
                </a:solidFill>
              </a:defRPr>
            </a:pPr>
            <a:r>
              <a:t>3 % better than D1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846320"/>
            <a:ext cx="3931920" cy="128016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0" i="1">
                <a:solidFill>
                  <a:srgbClr val="222222"/>
                </a:solidFill>
              </a:defRPr>
            </a:pPr>
            <a:r>
              <a:t>HRX does the heavy lifting.</a:t>
            </a:r>
          </a:p>
          <a:p>
            <a:pPr>
              <a:defRPr sz="1100" b="0" i="1">
                <a:solidFill>
                  <a:srgbClr val="222222"/>
                </a:solidFill>
              </a:defRPr>
            </a:pPr>
            <a:r>
              <a:t>Dynamic evap (D2) only trims another</a:t>
            </a:r>
          </a:p>
          <a:p>
            <a:pPr>
              <a:defRPr sz="1100" b="0" i="1">
                <a:solidFill>
                  <a:srgbClr val="222222"/>
                </a:solidFill>
              </a:defRPr>
            </a:pPr>
            <a:r>
              <a:t>0.011 kWh/kg, a minor refinement.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Step 2: add a solar collector (Config 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sz="1300" i="1">
                <a:solidFill>
                  <a:srgbClr val="555555"/>
                </a:solidFill>
              </a:defRPr>
            </a:pPr>
            <a:r>
              <a:t>Flat-plate collector in series before the condenser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115568"/>
            <a:ext cx="11365992" cy="0"/>
          </a:xfrm>
          <a:prstGeom prst="line">
            <a:avLst/>
          </a:prstGeom>
          <a:ln w="127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14400" y="1645920"/>
            <a:ext cx="914400" cy="731520"/>
          </a:xfrm>
          <a:prstGeom prst="roundRect">
            <a:avLst>
              <a:gd name="adj" fmla="val 15000"/>
            </a:avLst>
          </a:prstGeom>
          <a:solidFill>
            <a:srgbClr val="7A9E9F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Ambient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1645920"/>
            <a:ext cx="1097280" cy="731520"/>
          </a:xfrm>
          <a:prstGeom prst="roundRect">
            <a:avLst>
              <a:gd name="adj" fmla="val 15000"/>
            </a:avLst>
          </a:prstGeom>
          <a:solidFill>
            <a:srgbClr val="F0A623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Solar</a:t>
            </a:r>
            <a:br/>
            <a:r>
              <a:t>collector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645920"/>
            <a:ext cx="914400" cy="731520"/>
          </a:xfrm>
          <a:prstGeom prst="roundRect">
            <a:avLst>
              <a:gd name="adj" fmla="val 15000"/>
            </a:avLst>
          </a:prstGeom>
          <a:solidFill>
            <a:srgbClr val="E56B4A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645920"/>
            <a:ext cx="1280160" cy="731520"/>
          </a:xfrm>
          <a:prstGeom prst="roundRect">
            <a:avLst>
              <a:gd name="adj" fmla="val 15000"/>
            </a:avLst>
          </a:prstGeom>
          <a:solidFill>
            <a:srgbClr val="1F3A5F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Chamber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645920"/>
            <a:ext cx="914400" cy="731520"/>
          </a:xfrm>
          <a:prstGeom prst="roundRect">
            <a:avLst>
              <a:gd name="adj" fmla="val 15000"/>
            </a:avLst>
          </a:prstGeom>
          <a:solidFill>
            <a:srgbClr val="555555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Exhaust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28800" y="2011680"/>
            <a:ext cx="365760" cy="0"/>
          </a:xfrm>
          <a:prstGeom prst="line">
            <a:avLst/>
          </a:prstGeom>
          <a:ln w="19050">
            <a:solidFill>
              <a:srgbClr val="22222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2011680"/>
            <a:ext cx="365760" cy="0"/>
          </a:xfrm>
          <a:prstGeom prst="line">
            <a:avLst/>
          </a:prstGeom>
          <a:ln w="19050">
            <a:solidFill>
              <a:srgbClr val="22222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72000" y="2011680"/>
            <a:ext cx="365760" cy="0"/>
          </a:xfrm>
          <a:prstGeom prst="line">
            <a:avLst/>
          </a:prstGeom>
          <a:ln w="19050">
            <a:solidFill>
              <a:srgbClr val="22222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217920" y="2011680"/>
            <a:ext cx="365760" cy="0"/>
          </a:xfrm>
          <a:prstGeom prst="line">
            <a:avLst/>
          </a:prstGeom>
          <a:ln w="19050">
            <a:solidFill>
              <a:srgbClr val="22222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310896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222222"/>
                </a:solidFill>
              </a:defRPr>
            </a:pPr>
            <a:r>
              <a:t>•  When the sun is out, solar does part of the heating. HP takes what is left to reach 45 °C.</a:t>
            </a:r>
          </a:p>
          <a:p>
            <a:pPr>
              <a:lnSpc>
                <a:spcPct val="120000"/>
              </a:lnSpc>
              <a:defRPr sz="1400">
                <a:solidFill>
                  <a:srgbClr val="222222"/>
                </a:solidFill>
              </a:defRPr>
            </a:pPr>
            <a:r>
              <a:t>•  At night or under cloud cover, solar contributes zero and the HP runs full duty, so SEC can never be worse than Config A.</a:t>
            </a:r>
          </a:p>
          <a:p>
            <a:pPr>
              <a:lnSpc>
                <a:spcPct val="120000"/>
              </a:lnSpc>
              <a:defRPr sz="1400">
                <a:solidFill>
                  <a:srgbClr val="222222"/>
                </a:solidFill>
              </a:defRPr>
            </a:pPr>
            <a:r>
              <a:t>•  With 10 m² collector: solar provides 32 % of total heating at Kathmandu, 46 % at Biratnagar.</a:t>
            </a:r>
          </a:p>
          <a:p>
            <a:pPr>
              <a:lnSpc>
                <a:spcPct val="120000"/>
              </a:lnSpc>
              <a:defRPr sz="1400">
                <a:solidFill>
                  <a:srgbClr val="222222"/>
                </a:solidFill>
              </a:defRPr>
            </a:pPr>
            <a:r>
              <a:t>•  Observation: B alone beats A but does not beat D1 at Kathmandu. Solar alone &lt; HRX alone at high altitude.</a:t>
            </a:r>
          </a:p>
        </p:txBody>
      </p:sp>
      <p:pic>
        <p:nvPicPr>
          <p:cNvPr id="15" name="Picture 14" descr="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4800600"/>
            <a:ext cx="6675120" cy="27727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The question: where does the solar go in E configs?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sz="1300" i="1">
                <a:solidFill>
                  <a:srgbClr val="555555"/>
                </a:solidFill>
              </a:defRPr>
            </a:pPr>
            <a:r>
              <a:t>Both have an HRX and a solar collector, only the ordering differs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115568"/>
            <a:ext cx="11365992" cy="0"/>
          </a:xfrm>
          <a:prstGeom prst="line">
            <a:avLst/>
          </a:prstGeom>
          <a:ln w="127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920240"/>
            <a:ext cx="777240" cy="685800"/>
          </a:xfrm>
          <a:prstGeom prst="roundRect">
            <a:avLst>
              <a:gd name="adj" fmla="val 15000"/>
            </a:avLst>
          </a:prstGeom>
          <a:solidFill>
            <a:srgbClr val="7A9E9F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Amb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00200" y="1920240"/>
            <a:ext cx="777240" cy="685800"/>
          </a:xfrm>
          <a:prstGeom prst="roundRect">
            <a:avLst>
              <a:gd name="adj" fmla="val 15000"/>
            </a:avLst>
          </a:prstGeom>
          <a:solidFill>
            <a:srgbClr val="7A9E9F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HRX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1920240"/>
            <a:ext cx="868680" cy="685800"/>
          </a:xfrm>
          <a:prstGeom prst="roundRect">
            <a:avLst>
              <a:gd name="adj" fmla="val 15000"/>
            </a:avLst>
          </a:prstGeom>
          <a:solidFill>
            <a:srgbClr val="F0A623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Solar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920240"/>
            <a:ext cx="868680" cy="685800"/>
          </a:xfrm>
          <a:prstGeom prst="roundRect">
            <a:avLst>
              <a:gd name="adj" fmla="val 15000"/>
            </a:avLst>
          </a:prstGeom>
          <a:solidFill>
            <a:srgbClr val="E56B4A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920240"/>
            <a:ext cx="1051560" cy="685800"/>
          </a:xfrm>
          <a:prstGeom prst="roundRect">
            <a:avLst>
              <a:gd name="adj" fmla="val 15000"/>
            </a:avLst>
          </a:prstGeom>
          <a:solidFill>
            <a:srgbClr val="1F3A5F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Chamber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920240"/>
            <a:ext cx="777240" cy="685800"/>
          </a:xfrm>
          <a:prstGeom prst="roundRect">
            <a:avLst>
              <a:gd name="adj" fmla="val 15000"/>
            </a:avLst>
          </a:prstGeom>
          <a:solidFill>
            <a:srgbClr val="555555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Exh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25880" y="2263140"/>
            <a:ext cx="274320" cy="0"/>
          </a:xfrm>
          <a:prstGeom prst="line">
            <a:avLst/>
          </a:prstGeom>
          <a:ln w="19050">
            <a:solidFill>
              <a:srgbClr val="22222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77440" y="2263140"/>
            <a:ext cx="274320" cy="0"/>
          </a:xfrm>
          <a:prstGeom prst="line">
            <a:avLst/>
          </a:prstGeom>
          <a:ln w="19050">
            <a:solidFill>
              <a:srgbClr val="22222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520440" y="2263140"/>
            <a:ext cx="182880" cy="0"/>
          </a:xfrm>
          <a:prstGeom prst="line">
            <a:avLst/>
          </a:prstGeom>
          <a:ln w="19050">
            <a:solidFill>
              <a:srgbClr val="22222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72000" y="2263140"/>
            <a:ext cx="182880" cy="0"/>
          </a:xfrm>
          <a:prstGeom prst="line">
            <a:avLst/>
          </a:prstGeom>
          <a:ln w="19050">
            <a:solidFill>
              <a:srgbClr val="22222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806440" y="2263140"/>
            <a:ext cx="182880" cy="0"/>
          </a:xfrm>
          <a:prstGeom prst="line">
            <a:avLst/>
          </a:prstGeom>
          <a:ln w="19050">
            <a:solidFill>
              <a:srgbClr val="22222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377940.0" y="2606040"/>
            <a:ext cx="0.0" cy="411480"/>
          </a:xfrm>
          <a:prstGeom prst="line">
            <a:avLst/>
          </a:prstGeom>
          <a:ln w="12700">
            <a:solidFill>
              <a:srgbClr val="555555"/>
            </a:solidFill>
            <a:prstDash val="lg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988820.0" y="3017520"/>
            <a:ext cx="4389120.0" cy="0"/>
          </a:xfrm>
          <a:prstGeom prst="line">
            <a:avLst/>
          </a:prstGeom>
          <a:ln w="12700">
            <a:solidFill>
              <a:srgbClr val="555555"/>
            </a:solidFill>
            <a:prstDash val="lg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88820.0" y="2606040"/>
            <a:ext cx="0.0" cy="411480"/>
          </a:xfrm>
          <a:prstGeom prst="line">
            <a:avLst/>
          </a:prstGeom>
          <a:ln w="12700">
            <a:solidFill>
              <a:srgbClr val="555555"/>
            </a:solidFill>
            <a:prstDash val="lg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600200" y="3063240"/>
            <a:ext cx="411480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900" b="0" i="1">
                <a:solidFill>
                  <a:srgbClr val="555555"/>
                </a:solidFill>
              </a:defRPr>
            </a:pPr>
            <a:r>
              <a:t>exhaust pre-heats HRX (70 % effective)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463040"/>
            <a:ext cx="621792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300" b="1" i="0">
                <a:solidFill>
                  <a:srgbClr val="2E86AB"/>
                </a:solidFill>
              </a:defRPr>
            </a:pPr>
            <a:r>
              <a:t>E2: Amb → HRX → Solar → Cond → Chamber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97680"/>
            <a:ext cx="777240" cy="685800"/>
          </a:xfrm>
          <a:prstGeom prst="roundRect">
            <a:avLst>
              <a:gd name="adj" fmla="val 15000"/>
            </a:avLst>
          </a:prstGeom>
          <a:solidFill>
            <a:srgbClr val="7A9E9F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Amb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00200" y="4297680"/>
            <a:ext cx="777240" cy="685800"/>
          </a:xfrm>
          <a:prstGeom prst="roundRect">
            <a:avLst>
              <a:gd name="adj" fmla="val 15000"/>
            </a:avLst>
          </a:prstGeom>
          <a:solidFill>
            <a:srgbClr val="7A9E9F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HRX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4297680"/>
            <a:ext cx="868680" cy="685800"/>
          </a:xfrm>
          <a:prstGeom prst="roundRect">
            <a:avLst>
              <a:gd name="adj" fmla="val 15000"/>
            </a:avLst>
          </a:prstGeom>
          <a:solidFill>
            <a:srgbClr val="E56B4A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03320" y="4297680"/>
            <a:ext cx="868680" cy="685800"/>
          </a:xfrm>
          <a:prstGeom prst="roundRect">
            <a:avLst>
              <a:gd name="adj" fmla="val 15000"/>
            </a:avLst>
          </a:prstGeom>
          <a:solidFill>
            <a:srgbClr val="F0A623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Solar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0" y="4297680"/>
            <a:ext cx="1051560" cy="685800"/>
          </a:xfrm>
          <a:prstGeom prst="roundRect">
            <a:avLst>
              <a:gd name="adj" fmla="val 15000"/>
            </a:avLst>
          </a:prstGeom>
          <a:solidFill>
            <a:srgbClr val="1F3A5F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Chamber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89320" y="4297680"/>
            <a:ext cx="777240" cy="685800"/>
          </a:xfrm>
          <a:prstGeom prst="roundRect">
            <a:avLst>
              <a:gd name="adj" fmla="val 15000"/>
            </a:avLst>
          </a:prstGeom>
          <a:solidFill>
            <a:srgbClr val="555555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Exh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325880" y="4640580"/>
            <a:ext cx="274320" cy="0"/>
          </a:xfrm>
          <a:prstGeom prst="line">
            <a:avLst/>
          </a:prstGeom>
          <a:ln w="19050">
            <a:solidFill>
              <a:srgbClr val="22222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377440" y="4640580"/>
            <a:ext cx="274320" cy="0"/>
          </a:xfrm>
          <a:prstGeom prst="line">
            <a:avLst/>
          </a:prstGeom>
          <a:ln w="19050">
            <a:solidFill>
              <a:srgbClr val="22222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520440" y="4640580"/>
            <a:ext cx="182880" cy="0"/>
          </a:xfrm>
          <a:prstGeom prst="line">
            <a:avLst/>
          </a:prstGeom>
          <a:ln w="19050">
            <a:solidFill>
              <a:srgbClr val="22222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572000" y="4640580"/>
            <a:ext cx="182880" cy="0"/>
          </a:xfrm>
          <a:prstGeom prst="line">
            <a:avLst/>
          </a:prstGeom>
          <a:ln w="19050">
            <a:solidFill>
              <a:srgbClr val="22222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806440" y="4640580"/>
            <a:ext cx="182880" cy="0"/>
          </a:xfrm>
          <a:prstGeom prst="line">
            <a:avLst/>
          </a:prstGeom>
          <a:ln w="19050">
            <a:solidFill>
              <a:srgbClr val="22222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377940.0" y="4983480"/>
            <a:ext cx="0.0" cy="411480"/>
          </a:xfrm>
          <a:prstGeom prst="line">
            <a:avLst/>
          </a:prstGeom>
          <a:ln w="12700">
            <a:solidFill>
              <a:srgbClr val="555555"/>
            </a:solidFill>
            <a:prstDash val="lg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1988820.0" y="5394960"/>
            <a:ext cx="4389120.0" cy="0"/>
          </a:xfrm>
          <a:prstGeom prst="line">
            <a:avLst/>
          </a:prstGeom>
          <a:ln w="12700">
            <a:solidFill>
              <a:srgbClr val="555555"/>
            </a:solidFill>
            <a:prstDash val="lg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988820.0" y="4983480"/>
            <a:ext cx="0.0" cy="411480"/>
          </a:xfrm>
          <a:prstGeom prst="line">
            <a:avLst/>
          </a:prstGeom>
          <a:ln w="12700">
            <a:solidFill>
              <a:srgbClr val="555555"/>
            </a:solidFill>
            <a:prstDash val="lg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600200" y="5440680"/>
            <a:ext cx="411480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900" b="0" i="1">
                <a:solidFill>
                  <a:srgbClr val="555555"/>
                </a:solidFill>
              </a:defRPr>
            </a:pPr>
            <a:r>
              <a:t>exhaust pre-heats HRX (70 % effective)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840480"/>
            <a:ext cx="621792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300" b="1" i="0">
                <a:solidFill>
                  <a:srgbClr val="E56B4A"/>
                </a:solidFill>
              </a:defRPr>
            </a:pPr>
            <a:r>
              <a:t>E3: Amb → HRX → Cond → Solar → Chamber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8079" y="1463040"/>
            <a:ext cx="4389120" cy="4937760"/>
          </a:xfrm>
          <a:prstGeom prst="roundRect">
            <a:avLst/>
          </a:prstGeom>
          <a:solidFill>
            <a:srgbClr val="EEEEEE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89520" y="1554480"/>
            <a:ext cx="4206240" cy="36576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400" b="1" i="0">
                <a:solidFill>
                  <a:srgbClr val="1F3A5F"/>
                </a:solidFill>
              </a:defRPr>
            </a:pPr>
            <a:r>
              <a:t>Control logic differs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1965960"/>
            <a:ext cx="42062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200" b="1" i="0">
                <a:solidFill>
                  <a:srgbClr val="1F3A5F"/>
                </a:solidFill>
              </a:defRPr>
            </a:pPr>
            <a:r>
              <a:t>E2: Cond targets T_set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2286000"/>
            <a:ext cx="4206240" cy="1463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0" i="0">
                <a:solidFill>
                  <a:srgbClr val="222222"/>
                </a:solidFill>
              </a:defRPr>
            </a:pPr>
            <a:r>
              <a:t>If solar delivers the air already above 45 °C, the simulator clips to T_set and HP idles (Q_cond = 0). Any extra solar heat above 45 °C is discarded (no storage).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3749039"/>
            <a:ext cx="42062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200" b="1" i="0">
                <a:solidFill>
                  <a:srgbClr val="1F3A5F"/>
                </a:solidFill>
              </a:defRPr>
            </a:pPr>
            <a:r>
              <a:t>E3: Solar-priority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4069080"/>
            <a:ext cx="4206240" cy="201168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0" i="0">
                <a:solidFill>
                  <a:srgbClr val="222222"/>
                </a:solidFill>
              </a:defRPr>
            </a:pPr>
            <a:r>
              <a:t>HP modulates T_cond so that T_after_solar exactly equals T_set. If solar alone from the HRX output reaches T_set, HP goes OFF entirely. No clipping by design.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E2 in action (Kathmandu autumn, 10 m²)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sz="1300" i="1">
                <a:solidFill>
                  <a:srgbClr val="555555"/>
                </a:solidFill>
              </a:defRPr>
            </a:pPr>
            <a:r>
              <a:t>Solar lifts before the condenser; condenser fills the gap to 45 °C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115568"/>
            <a:ext cx="11365992" cy="0"/>
          </a:xfrm>
          <a:prstGeom prst="line">
            <a:avLst/>
          </a:prstGeom>
          <a:ln w="127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c_10m2_hrx0.70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7386887" cy="5120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78240" y="1463040"/>
            <a:ext cx="3200400" cy="4389120"/>
          </a:xfrm>
          <a:prstGeom prst="roundRect">
            <a:avLst/>
          </a:prstGeom>
          <a:solidFill>
            <a:srgbClr val="EEEEEE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1554480"/>
            <a:ext cx="3017520" cy="36576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400" b="1" i="0">
                <a:solidFill>
                  <a:srgbClr val="2E86AB"/>
                </a:solidFill>
              </a:defRPr>
            </a:pPr>
            <a:r>
              <a:t>E2 behaviour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9659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222222"/>
                </a:solidFill>
              </a:defRPr>
            </a:pPr>
            <a:r>
              <a:t>•  T_chamber holds 45 °C the entire run</a:t>
            </a:r>
          </a:p>
          <a:p>
            <a:pPr>
              <a:lnSpc>
                <a:spcPct val="120000"/>
              </a:lnSpc>
              <a:defRPr sz="1100">
                <a:solidFill>
                  <a:srgbClr val="222222"/>
                </a:solidFill>
              </a:defRPr>
            </a:pPr>
            <a:r>
              <a:t>•  HP runs throughout the day, solar reduces its load but rarely shuts it off</a:t>
            </a:r>
          </a:p>
          <a:p>
            <a:pPr>
              <a:lnSpc>
                <a:spcPct val="120000"/>
              </a:lnSpc>
              <a:defRPr sz="1100">
                <a:solidFill>
                  <a:srgbClr val="222222"/>
                </a:solidFill>
              </a:defRPr>
            </a:pPr>
            <a:r>
              <a:t>•  SEC = 0.123 kWh/kg</a:t>
            </a:r>
          </a:p>
          <a:p>
            <a:pPr>
              <a:lnSpc>
                <a:spcPct val="120000"/>
              </a:lnSpc>
              <a:defRPr sz="1100">
                <a:solidFill>
                  <a:srgbClr val="222222"/>
                </a:solidFill>
              </a:defRPr>
            </a:pPr>
            <a:r>
              <a:t>•  Mean COP over run = 5.25</a:t>
            </a:r>
          </a:p>
          <a:p>
            <a:pPr>
              <a:lnSpc>
                <a:spcPct val="120000"/>
              </a:lnSpc>
              <a:defRPr sz="1100">
                <a:solidFill>
                  <a:srgbClr val="222222"/>
                </a:solidFill>
              </a:defRPr>
            </a:pPr>
            <a:r>
              <a:t>•  Total drying time 16.9 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E3 in action (Kathmandu autumn, 10 m²)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sz="1300" i="1">
                <a:solidFill>
                  <a:srgbClr val="555555"/>
                </a:solidFill>
              </a:defRPr>
            </a:pPr>
            <a:r>
              <a:t>HP modulates T_cond to leave solar just enough room to reach 45 °C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115568"/>
            <a:ext cx="11365992" cy="0"/>
          </a:xfrm>
          <a:prstGeom prst="line">
            <a:avLst/>
          </a:prstGeom>
          <a:ln w="127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c_10m2_hrx0.70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7386887" cy="5120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78240" y="1463040"/>
            <a:ext cx="3200400" cy="4389120"/>
          </a:xfrm>
          <a:prstGeom prst="roundRect">
            <a:avLst/>
          </a:prstGeom>
          <a:solidFill>
            <a:srgbClr val="EEEEEE"/>
          </a:solidFill>
          <a:ln w="19050">
            <a:solidFill>
              <a:srgbClr val="E5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1554480"/>
            <a:ext cx="3017520" cy="36576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400" b="1" i="0">
                <a:solidFill>
                  <a:srgbClr val="E56B4A"/>
                </a:solidFill>
              </a:defRPr>
            </a:pPr>
            <a:r>
              <a:t>E3 behaviour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9659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222222"/>
                </a:solidFill>
              </a:defRPr>
            </a:pPr>
            <a:r>
              <a:t>•  T_chamber holds 45 °C (different path, same outcome)</a:t>
            </a:r>
          </a:p>
          <a:p>
            <a:pPr>
              <a:lnSpc>
                <a:spcPct val="120000"/>
              </a:lnSpc>
              <a:defRPr sz="1100">
                <a:solidFill>
                  <a:srgbClr val="222222"/>
                </a:solidFill>
              </a:defRPr>
            </a:pPr>
            <a:r>
              <a:t>•  HP turns OFF entirely for ~1-2 h around solar noon</a:t>
            </a:r>
          </a:p>
          <a:p>
            <a:pPr>
              <a:lnSpc>
                <a:spcPct val="120000"/>
              </a:lnSpc>
              <a:defRPr sz="1100">
                <a:solidFill>
                  <a:srgbClr val="222222"/>
                </a:solidFill>
              </a:defRPr>
            </a:pPr>
            <a:r>
              <a:t>•  SEC = 0.133 kWh/kg</a:t>
            </a:r>
          </a:p>
          <a:p>
            <a:pPr>
              <a:lnSpc>
                <a:spcPct val="120000"/>
              </a:lnSpc>
              <a:defRPr sz="1100">
                <a:solidFill>
                  <a:srgbClr val="222222"/>
                </a:solidFill>
              </a:defRPr>
            </a:pPr>
            <a:r>
              <a:t>•  Mean COP = 6.53 (higher than E2)</a:t>
            </a:r>
          </a:p>
          <a:p>
            <a:pPr>
              <a:lnSpc>
                <a:spcPct val="120000"/>
              </a:lnSpc>
              <a:defRPr sz="1100">
                <a:solidFill>
                  <a:srgbClr val="222222"/>
                </a:solidFill>
              </a:defRPr>
            </a:pPr>
            <a:r>
              <a:t>•  No clipping: 100 % of collected solar reaches the chamber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Side-by-side: what each config actually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sz="1300" i="1">
                <a:solidFill>
                  <a:srgbClr val="555555"/>
                </a:solidFill>
              </a:defRPr>
            </a:pPr>
            <a:r>
              <a:t>Autumn KTM, 10 m², r = 0, identical weather, identical drying time (16.9 h)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115568"/>
            <a:ext cx="11365992" cy="0"/>
          </a:xfrm>
          <a:prstGeom prst="line">
            <a:avLst/>
          </a:prstGeom>
          <a:ln w="127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c_10m2_hrx0.70_so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5029200" cy="2148840"/>
          </a:xfrm>
          <a:prstGeom prst="rect">
            <a:avLst/>
          </a:prstGeom>
        </p:spPr>
      </p:pic>
      <p:pic>
        <p:nvPicPr>
          <p:cNvPr id="6" name="Picture 5" descr="Ac_10m2_hrx0.70_so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417320"/>
            <a:ext cx="5029200" cy="2148840"/>
          </a:xfrm>
          <a:prstGeom prst="rect">
            <a:avLst/>
          </a:prstGeom>
        </p:spPr>
      </p:pic>
      <p:pic>
        <p:nvPicPr>
          <p:cNvPr id="7" name="Picture 6" descr="Ac_10m2_hrx0.70_heatpum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886200"/>
            <a:ext cx="5029200" cy="2148840"/>
          </a:xfrm>
          <a:prstGeom prst="rect">
            <a:avLst/>
          </a:prstGeom>
        </p:spPr>
      </p:pic>
      <p:pic>
        <p:nvPicPr>
          <p:cNvPr id="8" name="Picture 7" descr="Ac_10m2_hrx0.70_heatpum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3886200"/>
            <a:ext cx="5029200" cy="2148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394960" y="1417320"/>
            <a:ext cx="1417320" cy="2148840"/>
          </a:xfrm>
          <a:prstGeom prst="roundRect">
            <a:avLst/>
          </a:prstGeom>
          <a:solidFill>
            <a:srgbClr val="EEEEEE"/>
          </a:solidFill>
          <a:ln w="1524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68112" y="1472184"/>
            <a:ext cx="128016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1" i="0">
                <a:solidFill>
                  <a:srgbClr val="2E86AB"/>
                </a:solidFill>
              </a:defRPr>
            </a:pPr>
            <a:r>
              <a:t>E2 solar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8112" y="1783080"/>
            <a:ext cx="128016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000" b="1" i="0">
                <a:solidFill>
                  <a:srgbClr val="222222"/>
                </a:solidFill>
              </a:defRPr>
            </a:pPr>
            <a:r>
              <a:t>Cooler inlet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68112" y="2075688"/>
            <a:ext cx="128016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900" b="0" i="0">
                <a:solidFill>
                  <a:srgbClr val="222222"/>
                </a:solidFill>
              </a:defRPr>
            </a:pPr>
            <a:r>
              <a:t>~32 °C (HRX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8112" y="2331720"/>
            <a:ext cx="128016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000" b="1" i="0">
                <a:solidFill>
                  <a:srgbClr val="222222"/>
                </a:solidFill>
              </a:defRPr>
            </a:pPr>
            <a:r>
              <a:t>Collected 20.95 kWh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68112" y="2624328"/>
            <a:ext cx="128016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900" b="0" i="0">
                <a:solidFill>
                  <a:srgbClr val="222222"/>
                </a:solidFill>
              </a:defRPr>
            </a:pPr>
            <a:r>
              <a:t>Clipped 9.38 kWh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8112" y="2880360"/>
            <a:ext cx="128016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000" b="1" i="0">
                <a:solidFill>
                  <a:srgbClr val="222222"/>
                </a:solidFill>
              </a:defRPr>
            </a:pPr>
            <a:r>
              <a:t>Usable 11.57 kWh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0" y="1417320"/>
            <a:ext cx="1417320" cy="2148840"/>
          </a:xfrm>
          <a:prstGeom prst="roundRect">
            <a:avLst/>
          </a:prstGeom>
          <a:solidFill>
            <a:srgbClr val="EEEEEE"/>
          </a:solidFill>
          <a:ln w="15240">
            <a:solidFill>
              <a:srgbClr val="E5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88752" y="1472184"/>
            <a:ext cx="128016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1" i="0">
                <a:solidFill>
                  <a:srgbClr val="E56B4A"/>
                </a:solidFill>
              </a:defRPr>
            </a:pPr>
            <a:r>
              <a:t>E3 solar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88752" y="1783080"/>
            <a:ext cx="128016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000" b="1" i="0">
                <a:solidFill>
                  <a:srgbClr val="222222"/>
                </a:solidFill>
              </a:defRPr>
            </a:pPr>
            <a:r>
              <a:t>Hotter inlet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88752" y="2075688"/>
            <a:ext cx="128016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900" b="0" i="0">
                <a:solidFill>
                  <a:srgbClr val="222222"/>
                </a:solidFill>
              </a:defRPr>
            </a:pPr>
            <a:r>
              <a:t>~37 °C (HRX + Cond)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88752" y="2331720"/>
            <a:ext cx="128016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000" b="1" i="0">
                <a:solidFill>
                  <a:srgbClr val="222222"/>
                </a:solidFill>
              </a:defRPr>
            </a:pPr>
            <a:r>
              <a:t>Collected 19.77 kWh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88752" y="2624328"/>
            <a:ext cx="128016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900" b="0" i="0">
                <a:solidFill>
                  <a:srgbClr val="222222"/>
                </a:solidFill>
              </a:defRPr>
            </a:pPr>
            <a:r>
              <a:t>No clipping (design)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88752" y="2880360"/>
            <a:ext cx="128016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000" b="1" i="0">
                <a:solidFill>
                  <a:srgbClr val="222222"/>
                </a:solidFill>
              </a:defRPr>
            </a:pPr>
            <a:r>
              <a:t>Usable 19.77 kWh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94960" y="3886200"/>
            <a:ext cx="1417320" cy="2148840"/>
          </a:xfrm>
          <a:prstGeom prst="roundRect">
            <a:avLst/>
          </a:prstGeom>
          <a:solidFill>
            <a:srgbClr val="EEEEEE"/>
          </a:solidFill>
          <a:ln w="1524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68112" y="3941064"/>
            <a:ext cx="128016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1" i="0">
                <a:solidFill>
                  <a:srgbClr val="2E86AB"/>
                </a:solidFill>
              </a:defRPr>
            </a:pPr>
            <a:r>
              <a:t>E2 heat pump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68112" y="4251960"/>
            <a:ext cx="128016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000" b="1" i="0">
                <a:solidFill>
                  <a:srgbClr val="222222"/>
                </a:solidFill>
              </a:defRPr>
            </a:pPr>
            <a:r>
              <a:t>Runs most of 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68112" y="4544568"/>
            <a:ext cx="128016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900" b="0" i="0">
                <a:solidFill>
                  <a:srgbClr val="222222"/>
                </a:solidFill>
              </a:defRPr>
            </a:pPr>
            <a:r>
              <a:t>at moderate 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68112" y="4800600"/>
            <a:ext cx="128016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000" b="1" i="0">
                <a:solidFill>
                  <a:srgbClr val="222222"/>
                </a:solidFill>
              </a:defRPr>
            </a:pPr>
            <a:r>
              <a:t>W_comp 1.96 kWh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68112" y="5093208"/>
            <a:ext cx="128016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000" b="0" i="0">
                <a:solidFill>
                  <a:srgbClr val="222222"/>
                </a:solidFill>
              </a:defRPr>
            </a:pPr>
            <a:r>
              <a:t>Mean COP 5.25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68112" y="5385816"/>
            <a:ext cx="128016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900" b="0" i="0">
                <a:solidFill>
                  <a:srgbClr val="222222"/>
                </a:solidFill>
              </a:defRPr>
            </a:pPr>
            <a:r>
              <a:t>T_cond = 45 °C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15600" y="3886200"/>
            <a:ext cx="1417320" cy="2148840"/>
          </a:xfrm>
          <a:prstGeom prst="roundRect">
            <a:avLst/>
          </a:prstGeom>
          <a:solidFill>
            <a:srgbClr val="EEEEEE"/>
          </a:solidFill>
          <a:ln w="15240">
            <a:solidFill>
              <a:srgbClr val="E5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88752" y="3941064"/>
            <a:ext cx="128016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1" i="0">
                <a:solidFill>
                  <a:srgbClr val="E56B4A"/>
                </a:solidFill>
              </a:defRPr>
            </a:pPr>
            <a:r>
              <a:t>E3 heat pump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88752" y="4251960"/>
            <a:ext cx="128016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000" b="1" i="0">
                <a:solidFill>
                  <a:srgbClr val="222222"/>
                </a:solidFill>
              </a:defRPr>
            </a:pPr>
            <a:r>
              <a:t>OFF at solar noon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88752" y="4544568"/>
            <a:ext cx="128016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900" b="0" i="0">
                <a:solidFill>
                  <a:srgbClr val="222222"/>
                </a:solidFill>
              </a:defRPr>
            </a:pPr>
            <a:r>
              <a:t>(clean zero band)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88752" y="4800600"/>
            <a:ext cx="128016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000" b="1" i="0">
                <a:solidFill>
                  <a:srgbClr val="222222"/>
                </a:solidFill>
              </a:defRPr>
            </a:pPr>
            <a:r>
              <a:t>W_comp 2.16 kWh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88752" y="5093208"/>
            <a:ext cx="128016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000" b="0" i="0">
                <a:solidFill>
                  <a:srgbClr val="222222"/>
                </a:solidFill>
              </a:defRPr>
            </a:pPr>
            <a:r>
              <a:t>Mean COP 6.53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88752" y="5385816"/>
            <a:ext cx="128016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900" b="0" i="0">
                <a:solidFill>
                  <a:srgbClr val="222222"/>
                </a:solidFill>
              </a:defRPr>
            </a:pPr>
            <a:r>
              <a:t>T_cond modulated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" y="6172200"/>
            <a:ext cx="11612880" cy="54864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6217920"/>
            <a:ext cx="11338560" cy="45720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The paradox: E3 has higher COP + no clipping + more usable solar, yet E2 uses less total W_comp (1.96 &lt; 2.16 kWh). E2's cooler collector wins across every HP-ON hour, not just midday.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The punchline: why E2 beats E3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sz="1300" i="1">
                <a:solidFill>
                  <a:srgbClr val="555555"/>
                </a:solidFill>
              </a:defRPr>
            </a:pPr>
            <a:r>
              <a:t>Collector inlet temperature is everything (Hottel-Whillier-Bliss)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115568"/>
            <a:ext cx="11365992" cy="0"/>
          </a:xfrm>
          <a:prstGeom prst="line">
            <a:avLst/>
          </a:prstGeom>
          <a:ln w="127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40080" y="1463040"/>
            <a:ext cx="2743200" cy="438912"/>
          </a:xfrm>
          <a:prstGeom prst="rect">
            <a:avLst/>
          </a:prstGeom>
          <a:solidFill>
            <a:srgbClr val="1F3A5F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762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3383280" y="1463040"/>
            <a:ext cx="2011680" cy="438912"/>
          </a:xfrm>
          <a:prstGeom prst="rect">
            <a:avLst/>
          </a:prstGeom>
          <a:solidFill>
            <a:srgbClr val="1F3A5F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762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E2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0" y="1463040"/>
            <a:ext cx="2011680" cy="438912"/>
          </a:xfrm>
          <a:prstGeom prst="rect">
            <a:avLst/>
          </a:prstGeom>
          <a:solidFill>
            <a:srgbClr val="1F3A5F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762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01952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76200"/>
          <a:lstStyle/>
          <a:p>
            <a:pPr algn="ctr">
              <a:defRPr sz="1300" b="1">
                <a:solidFill>
                  <a:srgbClr val="222222"/>
                </a:solidFill>
              </a:defRPr>
            </a:pPr>
            <a:r>
              <a:t>SEC (kWh/kg)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901952"/>
            <a:ext cx="2011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76200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0.123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1901952"/>
            <a:ext cx="2011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76200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0.133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40864"/>
            <a:ext cx="2743200" cy="438912"/>
          </a:xfrm>
          <a:prstGeom prst="rect">
            <a:avLst/>
          </a:prstGeom>
          <a:solidFill>
            <a:srgbClr val="EEEEEE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76200"/>
          <a:lstStyle/>
          <a:p>
            <a:pPr algn="ctr">
              <a:defRPr sz="1300" b="1">
                <a:solidFill>
                  <a:srgbClr val="222222"/>
                </a:solidFill>
              </a:defRPr>
            </a:pPr>
            <a:r>
              <a:t>Mean COP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340864"/>
            <a:ext cx="2011680" cy="438912"/>
          </a:xfrm>
          <a:prstGeom prst="rect">
            <a:avLst/>
          </a:prstGeom>
          <a:solidFill>
            <a:srgbClr val="EEEEEE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76200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5.25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2340864"/>
            <a:ext cx="2011680" cy="438912"/>
          </a:xfrm>
          <a:prstGeom prst="rect">
            <a:avLst/>
          </a:prstGeom>
          <a:solidFill>
            <a:srgbClr val="EEEEEE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76200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6.53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779776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76200"/>
          <a:lstStyle/>
          <a:p>
            <a:pPr algn="ctr">
              <a:defRPr sz="1300" b="1">
                <a:solidFill>
                  <a:srgbClr val="222222"/>
                </a:solidFill>
              </a:defRPr>
            </a:pPr>
            <a:r>
              <a:t>Solar collected (kWh)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779776"/>
            <a:ext cx="2011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76200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20.95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2779776"/>
            <a:ext cx="2011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76200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19.77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18688"/>
            <a:ext cx="2743200" cy="438912"/>
          </a:xfrm>
          <a:prstGeom prst="rect">
            <a:avLst/>
          </a:prstGeom>
          <a:solidFill>
            <a:srgbClr val="EEEEEE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76200"/>
          <a:lstStyle/>
          <a:p>
            <a:pPr algn="ctr">
              <a:defRPr sz="1300" b="1">
                <a:solidFill>
                  <a:srgbClr val="222222"/>
                </a:solidFill>
              </a:defRPr>
            </a:pPr>
            <a:r>
              <a:t>Solar usable (kWh)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3218688"/>
            <a:ext cx="2011680" cy="438912"/>
          </a:xfrm>
          <a:prstGeom prst="rect">
            <a:avLst/>
          </a:prstGeom>
          <a:solidFill>
            <a:srgbClr val="EEEEEE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76200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11.57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94960" y="3218688"/>
            <a:ext cx="2011680" cy="438912"/>
          </a:xfrm>
          <a:prstGeom prst="rect">
            <a:avLst/>
          </a:prstGeom>
          <a:solidFill>
            <a:srgbClr val="EEEEEE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76200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19.77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657600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76200"/>
          <a:lstStyle/>
          <a:p>
            <a:pPr algn="ctr">
              <a:defRPr sz="1300" b="1">
                <a:solidFill>
                  <a:srgbClr val="222222"/>
                </a:solidFill>
              </a:defRPr>
            </a:pPr>
            <a:r>
              <a:t>Clipping waste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3657600"/>
            <a:ext cx="2011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76200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44.8 %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60" y="3657600"/>
            <a:ext cx="2011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76200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0 %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72000"/>
            <a:ext cx="6675120" cy="36576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000" b="0" i="1">
                <a:solidFill>
                  <a:srgbClr val="555555"/>
                </a:solidFill>
              </a:defRPr>
            </a:pPr>
            <a:r>
              <a:t>Autumn Kathmandu, 10 m² collector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1463040"/>
            <a:ext cx="4297680" cy="4937760"/>
          </a:xfrm>
          <a:prstGeom prst="roundRect">
            <a:avLst/>
          </a:prstGeom>
          <a:solidFill>
            <a:srgbClr val="EEEEEE"/>
          </a:solidFill>
          <a:ln w="1524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1554480"/>
            <a:ext cx="4114800" cy="36576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400" b="1" i="0">
                <a:solidFill>
                  <a:srgbClr val="1F3A5F"/>
                </a:solidFill>
              </a:defRPr>
            </a:pPr>
            <a:r>
              <a:t>The physics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1965960"/>
            <a:ext cx="4114800" cy="36576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200" b="1" i="0">
                <a:solidFill>
                  <a:srgbClr val="222222"/>
                </a:solidFill>
              </a:defRPr>
            </a:pPr>
            <a:r>
              <a:t>Hottel-Whillier-Bliss: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331720"/>
            <a:ext cx="4114800" cy="45720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300" b="1" i="0">
                <a:solidFill>
                  <a:srgbClr val="E56B4A"/>
                </a:solidFill>
              </a:defRPr>
            </a:pPr>
            <a:r>
              <a:t>η_c = F_R(τα) − F_R U_L (T_in − T_amb) / 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2926080"/>
            <a:ext cx="4114800" cy="34747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0" i="0">
                <a:solidFill>
                  <a:srgbClr val="222222"/>
                </a:solidFill>
              </a:defRPr>
            </a:pPr>
            <a:r>
              <a:t>In E2 the collector sees air at ~32 °C (HRX output, mid-drying).</a:t>
            </a:r>
          </a:p>
          <a:p>
            <a:pPr>
              <a:defRPr sz="1100" b="0" i="0">
                <a:solidFill>
                  <a:srgbClr val="222222"/>
                </a:solidFill>
              </a:defRPr>
            </a:pPr>
          </a:p>
          <a:p>
            <a:pPr>
              <a:defRPr sz="1100" b="0" i="0">
                <a:solidFill>
                  <a:srgbClr val="222222"/>
                </a:solidFill>
              </a:defRPr>
            </a:pPr>
            <a:r>
              <a:t>In E3 the collector sees air at ~37 °C (HRX + condenser output).</a:t>
            </a:r>
          </a:p>
          <a:p>
            <a:pPr>
              <a:defRPr sz="1100" b="0" i="0">
                <a:solidFill>
                  <a:srgbClr val="222222"/>
                </a:solidFill>
              </a:defRPr>
            </a:pPr>
          </a:p>
          <a:p>
            <a:pPr>
              <a:defRPr sz="1100" b="0" i="0">
                <a:solidFill>
                  <a:srgbClr val="222222"/>
                </a:solidFill>
              </a:defRPr>
            </a:pPr>
            <a:r>
              <a:t>That 5 °C hotter inlet costs roughly 2.5 percentage points of energy-weighted efficiency.</a:t>
            </a:r>
          </a:p>
          <a:p>
            <a:pPr>
              <a:defRPr sz="1100" b="0" i="0">
                <a:solidFill>
                  <a:srgbClr val="222222"/>
                </a:solidFill>
              </a:defRPr>
            </a:pPr>
          </a:p>
          <a:p>
            <a:pPr>
              <a:defRPr sz="1100" b="0" i="0">
                <a:solidFill>
                  <a:srgbClr val="222222"/>
                </a:solidFill>
              </a:defRPr>
            </a:pPr>
            <a:r>
              <a:t>E2 captures +1.2 kWh extra solar per day; E3's lower compressor work saves only ~1.0 kWh thermal. E2 nets +0.2 kWh/day.</a:t>
            </a:r>
          </a:p>
          <a:p>
            <a:pPr>
              <a:defRPr sz="1100" b="0" i="0">
                <a:solidFill>
                  <a:srgbClr val="222222"/>
                </a:solidFill>
              </a:defRPr>
            </a:pPr>
          </a:p>
          <a:p>
            <a:pPr>
              <a:defRPr sz="1100" b="0" i="0">
                <a:solidFill>
                  <a:srgbClr val="222222"/>
                </a:solidFill>
              </a:defRPr>
            </a:pPr>
            <a:r>
              <a:t>Keep the solar upstream of the condenser.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The clipping problem in E2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sz="1300" i="1">
                <a:solidFill>
                  <a:srgbClr val="555555"/>
                </a:solidFill>
              </a:defRPr>
            </a:pPr>
            <a:r>
              <a:t>Solar heat above T_set has nowhere to go (no storage)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115568"/>
            <a:ext cx="11365992" cy="0"/>
          </a:xfrm>
          <a:prstGeom prst="line">
            <a:avLst/>
          </a:prstGeom>
          <a:ln w="127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clipping_phys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7132320" cy="325397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463040"/>
            <a:ext cx="4297680" cy="4937760"/>
          </a:xfrm>
          <a:prstGeom prst="roundRect">
            <a:avLst/>
          </a:prstGeom>
          <a:solidFill>
            <a:srgbClr val="EEEEEE"/>
          </a:solidFill>
          <a:ln w="15240">
            <a:solidFill>
              <a:srgbClr val="E5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1554480"/>
            <a:ext cx="4114800" cy="36576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300" b="1" i="0">
                <a:solidFill>
                  <a:srgbClr val="1F3A5F"/>
                </a:solidFill>
              </a:defRPr>
            </a:pPr>
            <a:r>
              <a:t>When does clipping happen?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01168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222222"/>
                </a:solidFill>
              </a:defRPr>
            </a:pPr>
            <a:r>
              <a:t>•  WHEN: peak-sun hours, roughly 10:00-15:00 (6.3 h/day at 10 m² autumn).</a:t>
            </a:r>
          </a:p>
          <a:p>
            <a:pPr>
              <a:lnSpc>
                <a:spcPct val="120000"/>
              </a:lnSpc>
              <a:defRPr sz="1100">
                <a:solidFill>
                  <a:srgbClr val="222222"/>
                </a:solidFill>
              </a:defRPr>
            </a:pPr>
            <a:r>
              <a:t>•  WHY: stream already at 45 °C when it reaches the condenser; HP idles; excess heat is discarded.</a:t>
            </a:r>
          </a:p>
          <a:p>
            <a:pPr>
              <a:lnSpc>
                <a:spcPct val="120000"/>
              </a:lnSpc>
              <a:defRPr sz="1100">
                <a:solidFill>
                  <a:srgbClr val="222222"/>
                </a:solidFill>
              </a:defRPr>
            </a:pPr>
            <a:r>
              <a:t>•  GETS WORSE as drying progresses: exhaust warms, HRX lifts inlet closer to T_set, even weak solar clips.</a:t>
            </a:r>
          </a:p>
          <a:p>
            <a:pPr>
              <a:lnSpc>
                <a:spcPct val="120000"/>
              </a:lnSpc>
              <a:defRPr sz="1100">
                <a:solidFill>
                  <a:srgbClr val="222222"/>
                </a:solidFill>
              </a:defRPr>
            </a:pPr>
            <a:r>
              <a:t>•  Threshold heat: Q_solar &gt; ~1.3 kW (stream can't accept more than ~13 K lift mid-drying).</a:t>
            </a:r>
          </a:p>
          <a:p>
            <a:pPr>
              <a:lnSpc>
                <a:spcPct val="120000"/>
              </a:lnSpc>
              <a:defRPr sz="1100">
                <a:solidFill>
                  <a:srgbClr val="222222"/>
                </a:solidFill>
              </a:defRPr>
            </a:pPr>
            <a:r>
              <a:t>•  In irradiance: 10 m² clips above ~240 W/m²; 4 m² clips above ~600 W/m²; 2 m² never clips.</a:t>
            </a:r>
          </a:p>
          <a:p>
            <a:pPr>
              <a:lnSpc>
                <a:spcPct val="120000"/>
              </a:lnSpc>
              <a:defRPr sz="1100">
                <a:solidFill>
                  <a:srgbClr val="222222"/>
                </a:solidFill>
              </a:defRPr>
            </a:pPr>
            <a:r>
              <a:t>•  Identity holds: Q_reported = Q_usable + Q_clipped exactly.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Area sweep: SEC keeps dropping even as clipping rises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sz="1300" i="1">
                <a:solidFill>
                  <a:srgbClr val="555555"/>
                </a:solidFill>
              </a:defRPr>
            </a:pPr>
            <a:r>
              <a:t>Shrinking the collector to avoid clipping makes things worse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115568"/>
            <a:ext cx="11365992" cy="0"/>
          </a:xfrm>
          <a:prstGeom prst="line">
            <a:avLst/>
          </a:prstGeom>
          <a:ln w="127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rea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46948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300" b="0" i="1">
                <a:solidFill>
                  <a:srgbClr val="222222"/>
                </a:solidFill>
              </a:defRPr>
            </a:pPr>
            <a:r>
              <a:t>Extra area always buys extra useful solar. The HP duty cycle drops faster than clipping waste grows. Right fix: keep area, add storage, not shrink area.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Seasonal performance across two climates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sz="1300" i="1">
                <a:solidFill>
                  <a:srgbClr val="555555"/>
                </a:solidFill>
              </a:defRPr>
            </a:pPr>
            <a:r>
              <a:t>E2 beats E3 in every season, at both locations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115568"/>
            <a:ext cx="11365992" cy="0"/>
          </a:xfrm>
          <a:prstGeom prst="line">
            <a:avLst/>
          </a:prstGeom>
          <a:ln w="127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seas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8686800" cy="3805115"/>
          </a:xfrm>
          <a:prstGeom prst="rect">
            <a:avLst/>
          </a:prstGeom>
        </p:spPr>
      </p:pic>
      <p:pic>
        <p:nvPicPr>
          <p:cNvPr id="6" name="Picture 5" descr="clim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1280160"/>
            <a:ext cx="3017520" cy="19409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5760720"/>
            <a:ext cx="11704320" cy="7315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300" b="0" i="1">
                <a:solidFill>
                  <a:srgbClr val="222222"/>
                </a:solidFill>
              </a:defRPr>
            </a:pPr>
            <a:r>
              <a:t>E2 advantage is consistent: 7-9 % at Kathmandu, 6-7 % at Biratnagar. Spring is best at both (strongest irradiance, moderate ambient, best collector efficiency).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How do we trust these numbers?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sz="1300" i="1">
                <a:solidFill>
                  <a:srgbClr val="555555"/>
                </a:solidFill>
              </a:defRPr>
            </a:pPr>
            <a:r>
              <a:t>Model passes all first-law and mass-balance checks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115568"/>
            <a:ext cx="11365992" cy="0"/>
          </a:xfrm>
          <a:prstGeom prst="line">
            <a:avLst/>
          </a:prstGeom>
          <a:ln w="127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222222"/>
                </a:solidFill>
              </a:defRPr>
            </a:pPr>
            <a:r>
              <a:t>•  1st law on HP cycle: Q_cond = Q_evap + W_comp. Residual &lt; 1.5 % (enthalpy decomposition artefact, CoolProp states are exact).</a:t>
            </a:r>
          </a:p>
          <a:p>
            <a:pPr>
              <a:lnSpc>
                <a:spcPct val="120000"/>
              </a:lnSpc>
              <a:defRPr sz="1200">
                <a:solidFill>
                  <a:srgbClr val="222222"/>
                </a:solidFill>
              </a:defRPr>
            </a:pPr>
            <a:r>
              <a:t>•  Water mass balance: cumulative dm_w matches 19.35 kg; target was 19.2 kg. Error ~0.8 %.</a:t>
            </a:r>
          </a:p>
          <a:p>
            <a:pPr>
              <a:lnSpc>
                <a:spcPct val="120000"/>
              </a:lnSpc>
              <a:defRPr sz="1200">
                <a:solidFill>
                  <a:srgbClr val="222222"/>
                </a:solidFill>
              </a:defRPr>
            </a:pPr>
            <a:r>
              <a:t>•  T_to_chamber holds 45.00 °C exactly across all 6 configs (condenser control validated).</a:t>
            </a:r>
          </a:p>
          <a:p>
            <a:pPr>
              <a:lnSpc>
                <a:spcPct val="120000"/>
              </a:lnSpc>
              <a:defRPr sz="1200">
                <a:solidFill>
                  <a:srgbClr val="222222"/>
                </a:solidFill>
              </a:defRPr>
            </a:pPr>
            <a:r>
              <a:t>•  COP in physical range: 3.2 to 6.5 across configs; Carnot efficiency 0.61-0.62 (consistent with η_is = 0.75).</a:t>
            </a:r>
          </a:p>
          <a:p>
            <a:pPr>
              <a:lnSpc>
                <a:spcPct val="120000"/>
              </a:lnSpc>
              <a:defRPr sz="1200">
                <a:solidFill>
                  <a:srgbClr val="222222"/>
                </a:solidFill>
              </a:defRPr>
            </a:pPr>
            <a:r>
              <a:t>•  Pressure ratio 4-5 for R410A (matches textbook values).</a:t>
            </a:r>
          </a:p>
          <a:p>
            <a:pPr>
              <a:lnSpc>
                <a:spcPct val="120000"/>
              </a:lnSpc>
              <a:defRPr sz="1200">
                <a:solidFill>
                  <a:srgbClr val="222222"/>
                </a:solidFill>
              </a:defRPr>
            </a:pPr>
            <a:r>
              <a:t>•  Tray humidity gradient monotonic early to late (see plot, right).</a:t>
            </a:r>
          </a:p>
          <a:p>
            <a:pPr>
              <a:lnSpc>
                <a:spcPct val="120000"/>
              </a:lnSpc>
              <a:defRPr sz="1200">
                <a:solidFill>
                  <a:srgbClr val="222222"/>
                </a:solidFill>
              </a:defRPr>
            </a:pPr>
            <a:r>
              <a:t>•  Psychrometric consistency: ω, RH, T_dp all close within 4 × 10⁻⁶.</a:t>
            </a:r>
          </a:p>
          <a:p>
            <a:pPr>
              <a:lnSpc>
                <a:spcPct val="120000"/>
              </a:lnSpc>
              <a:defRPr sz="1200">
                <a:solidFill>
                  <a:srgbClr val="222222"/>
                </a:solidFill>
              </a:defRPr>
            </a:pPr>
            <a:r>
              <a:t>•  Solar energy identity: Q_reported = Q_usable + Q_clipped, exact by construction.</a:t>
            </a:r>
          </a:p>
          <a:p>
            <a:pPr>
              <a:lnSpc>
                <a:spcPct val="120000"/>
              </a:lnSpc>
              <a:defRPr sz="1200">
                <a:solidFill>
                  <a:srgbClr val="222222"/>
                </a:solidFill>
              </a:defRPr>
            </a:pPr>
            <a:r>
              <a:t>•  Phase 3.5 validation report (Apr 2026): all 6 configs PASS.</a:t>
            </a:r>
          </a:p>
        </p:txBody>
      </p:sp>
      <p:pic>
        <p:nvPicPr>
          <p:cNvPr id="6" name="Picture 5" descr="Ac_10m2_hrx0.70_tray_T_R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371600"/>
            <a:ext cx="669509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6172200"/>
            <a:ext cx="438912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000" b="0" i="1">
                <a:solidFill>
                  <a:srgbClr val="555555"/>
                </a:solidFill>
              </a:defRPr>
            </a:pPr>
            <a:r>
              <a:t>Tray-by-tray T and RH, E2 autumn 10 m² (validation visual)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sz="1300" i="1">
                <a:solidFill>
                  <a:srgbClr val="555555"/>
                </a:solidFill>
              </a:defRPr>
            </a:pPr>
            <a:r>
              <a:t>Three things I want to leave you with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115568"/>
            <a:ext cx="11365992" cy="0"/>
          </a:xfrm>
          <a:prstGeom prst="line">
            <a:avLst/>
          </a:prstGeom>
          <a:ln w="127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554480"/>
            <a:ext cx="137160" cy="12801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10972800" cy="45720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800" b="1" i="0">
                <a:solidFill>
                  <a:srgbClr val="1F3A5F"/>
                </a:solidFill>
              </a:defRPr>
            </a:pPr>
            <a:r>
              <a:t>1. Put the solar upstream of the condenser.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972800" cy="82296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300" b="0" i="0">
                <a:solidFill>
                  <a:srgbClr val="222222"/>
                </a:solidFill>
              </a:defRPr>
            </a:pPr>
            <a:r>
              <a:t>E2 beats E3 by 7-9 % SEC in every season at both climates. Collector inlet temperature dominates the combined efficiency of a series HP+solar topology.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08960"/>
            <a:ext cx="137160" cy="1280160"/>
          </a:xfrm>
          <a:prstGeom prst="rect">
            <a:avLst/>
          </a:prstGeom>
          <a:solidFill>
            <a:srgbClr val="E5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108960"/>
            <a:ext cx="10972800" cy="45720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800" b="1" i="0">
                <a:solidFill>
                  <a:srgbClr val="1F3A5F"/>
                </a:solidFill>
              </a:defRPr>
            </a:pPr>
            <a:r>
              <a:t>2. Peak COP is a distraction. SEC is what matters.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66160"/>
            <a:ext cx="10972800" cy="82296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300" b="0" i="0">
                <a:solidFill>
                  <a:srgbClr val="222222"/>
                </a:solidFill>
              </a:defRPr>
            </a:pPr>
            <a:r>
              <a:t>E3 has higher COP and zero clipping, yet loses on SEC. High COP on a smaller duty cycle can still cost more than low COP on a bigger 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663440"/>
            <a:ext cx="137160" cy="1280160"/>
          </a:xfrm>
          <a:prstGeom prst="rect">
            <a:avLst/>
          </a:prstGeom>
          <a:solidFill>
            <a:srgbClr val="F0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972800" cy="45720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800" b="1" i="0">
                <a:solidFill>
                  <a:srgbClr val="1F3A5F"/>
                </a:solidFill>
              </a:defRPr>
            </a:pPr>
            <a:r>
              <a:t>3. Clipping is a thermodynamic limit, not a weather problem.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120640"/>
            <a:ext cx="10972800" cy="82296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300" b="0" i="0">
                <a:solidFill>
                  <a:srgbClr val="222222"/>
                </a:solidFill>
              </a:defRPr>
            </a:pPr>
            <a:r>
              <a:t>Clipping happens every clear day, 6+ hours a day, because the stream state forces the HP to idle when solar alone reaches T_set. The fix is storage.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What's next: scale-up and thermal zones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sz="1300" i="1">
                <a:solidFill>
                  <a:srgbClr val="555555"/>
                </a:solidFill>
              </a:defRPr>
            </a:pPr>
            <a:r>
              <a:t>Going from 3 kg dry (lab) to 500-1000 kg fresh (small commercial)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115568"/>
            <a:ext cx="11365992" cy="0"/>
          </a:xfrm>
          <a:prstGeom prst="line">
            <a:avLst/>
          </a:prstGeom>
          <a:ln w="127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188720"/>
            <a:ext cx="5943600" cy="36576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300" b="1" i="0">
                <a:solidFill>
                  <a:srgbClr val="1F3A5F"/>
                </a:solidFill>
              </a:defRPr>
            </a:pPr>
            <a:r>
              <a:t>Multi-zone chamber concept (4 zones shown)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286000"/>
            <a:ext cx="5852160" cy="2011680"/>
          </a:xfrm>
          <a:prstGeom prst="rect">
            <a:avLst/>
          </a:prstGeom>
          <a:solidFill>
            <a:srgbClr val="2A4A7F"/>
          </a:solidFill>
          <a:ln w="1016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828800.0" y="2423160"/>
            <a:ext cx="0.0" cy="1737360"/>
          </a:xfrm>
          <a:prstGeom prst="line">
            <a:avLst/>
          </a:prstGeom>
          <a:ln w="12700">
            <a:solidFill>
              <a:srgbClr val="FFFFF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40.0" y="2423160"/>
            <a:ext cx="0.0" cy="1737360"/>
          </a:xfrm>
          <a:prstGeom prst="line">
            <a:avLst/>
          </a:prstGeom>
          <a:ln w="12700">
            <a:solidFill>
              <a:srgbClr val="FFFFF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754880.0" y="2423160"/>
            <a:ext cx="0.0" cy="1737360"/>
          </a:xfrm>
          <a:prstGeom prst="line">
            <a:avLst/>
          </a:prstGeom>
          <a:ln w="12700">
            <a:solidFill>
              <a:srgbClr val="FFFFF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3017520"/>
            <a:ext cx="109728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Zone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83280"/>
            <a:ext cx="109728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900" b="0" i="1">
                <a:solidFill>
                  <a:srgbClr val="EEEEEE"/>
                </a:solidFill>
              </a:defRPr>
            </a:pPr>
            <a:r>
              <a:t>trays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017520"/>
            <a:ext cx="109728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Zone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383280"/>
            <a:ext cx="109728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900" b="0" i="1">
                <a:solidFill>
                  <a:srgbClr val="EEEEEE"/>
                </a:solidFill>
              </a:defRPr>
            </a:pPr>
            <a:r>
              <a:t>trays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017520"/>
            <a:ext cx="109728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Zone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383280"/>
            <a:ext cx="109728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900" b="0" i="1">
                <a:solidFill>
                  <a:srgbClr val="EEEEEE"/>
                </a:solidFill>
              </a:defRPr>
            </a:pPr>
            <a:r>
              <a:t>trays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017520"/>
            <a:ext cx="109728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Zone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383280"/>
            <a:ext cx="109728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900" b="0" i="1">
                <a:solidFill>
                  <a:srgbClr val="EEEEEE"/>
                </a:solidFill>
              </a:defRPr>
            </a:pPr>
            <a:r>
              <a:t>trays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solidFill>
            <a:srgbClr val="E56B4A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1490472"/>
            <a:ext cx="548640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</a:defRPr>
            </a:pPr>
            <a:r>
              <a:t>Hot-air distribution manifold (from Cond + Solar)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97280.0" y="1783080"/>
            <a:ext cx="0.0" cy="502920"/>
          </a:xfrm>
          <a:prstGeom prst="line">
            <a:avLst/>
          </a:prstGeom>
          <a:ln w="19050">
            <a:solidFill>
              <a:srgbClr val="E56B4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560320.0" y="1783080"/>
            <a:ext cx="0.0" cy="502920"/>
          </a:xfrm>
          <a:prstGeom prst="line">
            <a:avLst/>
          </a:prstGeom>
          <a:ln w="19050">
            <a:solidFill>
              <a:srgbClr val="E56B4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023360.0" y="1783080"/>
            <a:ext cx="0.0" cy="502920"/>
          </a:xfrm>
          <a:prstGeom prst="line">
            <a:avLst/>
          </a:prstGeom>
          <a:ln w="19050">
            <a:solidFill>
              <a:srgbClr val="E56B4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486400.0" y="1783080"/>
            <a:ext cx="0.0" cy="502920"/>
          </a:xfrm>
          <a:prstGeom prst="line">
            <a:avLst/>
          </a:prstGeom>
          <a:ln w="19050">
            <a:solidFill>
              <a:srgbClr val="E56B4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97280.0" y="4297680"/>
            <a:ext cx="0.0" cy="411480"/>
          </a:xfrm>
          <a:prstGeom prst="line">
            <a:avLst/>
          </a:prstGeom>
          <a:ln w="16510">
            <a:solidFill>
              <a:srgbClr val="55555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0320.0" y="4297680"/>
            <a:ext cx="0.0" cy="411480"/>
          </a:xfrm>
          <a:prstGeom prst="line">
            <a:avLst/>
          </a:prstGeom>
          <a:ln w="16510">
            <a:solidFill>
              <a:srgbClr val="55555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23360.0" y="4297680"/>
            <a:ext cx="0.0" cy="411480"/>
          </a:xfrm>
          <a:prstGeom prst="line">
            <a:avLst/>
          </a:prstGeom>
          <a:ln w="16510">
            <a:solidFill>
              <a:srgbClr val="55555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86400.0" y="4297680"/>
            <a:ext cx="0.0" cy="411480"/>
          </a:xfrm>
          <a:prstGeom prst="line">
            <a:avLst/>
          </a:prstGeom>
          <a:ln w="16510">
            <a:solidFill>
              <a:srgbClr val="55555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solidFill>
            <a:srgbClr val="555555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727448"/>
            <a:ext cx="5486400" cy="256032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</a:defRPr>
            </a:pPr>
            <a:r>
              <a:t>Exhaust plenum → back to HRX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394960"/>
            <a:ext cx="5852160" cy="45720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000" b="0" i="1">
                <a:solidFill>
                  <a:srgbClr val="555555"/>
                </a:solidFill>
              </a:defRPr>
            </a:pPr>
            <a:r>
              <a:t>Each zone gets fresh 45 °C air via the manifold; each zone's exhaust routes back through its own HRX branch.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1280160"/>
            <a:ext cx="5303520" cy="5212080"/>
          </a:xfrm>
          <a:prstGeom prst="roundRect">
            <a:avLst/>
          </a:prstGeom>
          <a:solidFill>
            <a:srgbClr val="EEEEEE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1371600"/>
            <a:ext cx="5120640" cy="36576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400" b="1" i="0">
                <a:solidFill>
                  <a:srgbClr val="1F3A5F"/>
                </a:solidFill>
              </a:defRPr>
            </a:pPr>
            <a:r>
              <a:t>Capacity scaling (rough)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1828800"/>
            <a:ext cx="201168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1" i="0">
                <a:solidFill>
                  <a:srgbClr val="1F3A5F"/>
                </a:solidFill>
              </a:defRPr>
            </a:pPr>
            <a:r>
              <a:t>Dry mass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1828800"/>
            <a:ext cx="10058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1" i="0">
                <a:solidFill>
                  <a:srgbClr val="1F3A5F"/>
                </a:solidFill>
              </a:defRPr>
            </a:pPr>
            <a:r>
              <a:t>3 kg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1828800"/>
            <a:ext cx="10058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1" i="0">
                <a:solidFill>
                  <a:srgbClr val="1F3A5F"/>
                </a:solidFill>
              </a:defRPr>
            </a:pPr>
            <a:r>
              <a:t>70 kg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98480" y="1828800"/>
            <a:ext cx="10058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1" i="0">
                <a:solidFill>
                  <a:srgbClr val="1F3A5F"/>
                </a:solidFill>
              </a:defRPr>
            </a:pPr>
            <a:r>
              <a:t>140 kg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2176272"/>
            <a:ext cx="201168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1" i="0">
                <a:solidFill>
                  <a:srgbClr val="1F3A5F"/>
                </a:solidFill>
              </a:defRPr>
            </a:pPr>
            <a:r>
              <a:t>Fresh mass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2176272"/>
            <a:ext cx="10058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0" i="0">
                <a:solidFill>
                  <a:srgbClr val="222222"/>
                </a:solidFill>
              </a:defRPr>
            </a:pPr>
            <a:r>
              <a:t>22.5 kg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2176272"/>
            <a:ext cx="10058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0" i="0">
                <a:solidFill>
                  <a:srgbClr val="222222"/>
                </a:solidFill>
              </a:defRPr>
            </a:pPr>
            <a:r>
              <a:t>500 kg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98480" y="2176272"/>
            <a:ext cx="10058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0" i="0">
                <a:solidFill>
                  <a:srgbClr val="222222"/>
                </a:solidFill>
              </a:defRPr>
            </a:pPr>
            <a:r>
              <a:t>1000 kg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2523744"/>
            <a:ext cx="201168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1" i="0">
                <a:solidFill>
                  <a:srgbClr val="1F3A5F"/>
                </a:solidFill>
              </a:defRPr>
            </a:pPr>
            <a:r>
              <a:t>Water removed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2523744"/>
            <a:ext cx="10058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0" i="0">
                <a:solidFill>
                  <a:srgbClr val="222222"/>
                </a:solidFill>
              </a:defRPr>
            </a:pPr>
            <a:r>
              <a:t>19.2 kg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2523744"/>
            <a:ext cx="10058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0" i="0">
                <a:solidFill>
                  <a:srgbClr val="222222"/>
                </a:solidFill>
              </a:defRPr>
            </a:pPr>
            <a:r>
              <a:t>427 kg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0" y="2523744"/>
            <a:ext cx="10058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0" i="0">
                <a:solidFill>
                  <a:srgbClr val="222222"/>
                </a:solidFill>
              </a:defRPr>
            </a:pPr>
            <a:r>
              <a:t>854 kg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2871216"/>
            <a:ext cx="201168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1" i="0">
                <a:solidFill>
                  <a:srgbClr val="1F3A5F"/>
                </a:solidFill>
              </a:defRPr>
            </a:pPr>
            <a:r>
              <a:t>Scale factor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2871216"/>
            <a:ext cx="10058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0" i="0">
                <a:solidFill>
                  <a:srgbClr val="222222"/>
                </a:solidFill>
              </a:defRPr>
            </a:pPr>
            <a:r>
              <a:t>1×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0" y="2871216"/>
            <a:ext cx="10058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0" i="0">
                <a:solidFill>
                  <a:srgbClr val="222222"/>
                </a:solidFill>
              </a:defRPr>
            </a:pPr>
            <a:r>
              <a:t>22×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98480" y="2871216"/>
            <a:ext cx="10058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0" i="0">
                <a:solidFill>
                  <a:srgbClr val="222222"/>
                </a:solidFill>
              </a:defRPr>
            </a:pPr>
            <a:r>
              <a:t>44×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3218688"/>
            <a:ext cx="201168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1" i="0">
                <a:solidFill>
                  <a:srgbClr val="1F3A5F"/>
                </a:solidFill>
              </a:defRPr>
            </a:pPr>
            <a:r>
              <a:t>Trays (current geometry)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3218688"/>
            <a:ext cx="10058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0" i="0">
                <a:solidFill>
                  <a:srgbClr val="222222"/>
                </a:solidFill>
              </a:defRPr>
            </a:pPr>
            <a:r>
              <a:t>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0" y="3218688"/>
            <a:ext cx="10058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0" i="0">
                <a:solidFill>
                  <a:srgbClr val="222222"/>
                </a:solidFill>
              </a:defRPr>
            </a:pPr>
            <a:r>
              <a:t>~220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98480" y="3218688"/>
            <a:ext cx="10058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0" i="0">
                <a:solidFill>
                  <a:srgbClr val="222222"/>
                </a:solidFill>
              </a:defRPr>
            </a:pPr>
            <a:r>
              <a:t>~440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75120" y="3566160"/>
            <a:ext cx="201168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1" i="0">
                <a:solidFill>
                  <a:srgbClr val="1F3A5F"/>
                </a:solidFill>
              </a:defRPr>
            </a:pPr>
            <a:r>
              <a:t>Collector area (same SEC)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3566160"/>
            <a:ext cx="10058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0" i="0">
                <a:solidFill>
                  <a:srgbClr val="222222"/>
                </a:solidFill>
              </a:defRPr>
            </a:pPr>
            <a:r>
              <a:t>10 m²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3566160"/>
            <a:ext cx="10058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0" i="0">
                <a:solidFill>
                  <a:srgbClr val="222222"/>
                </a:solidFill>
              </a:defRPr>
            </a:pPr>
            <a:r>
              <a:t>220 m²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98480" y="3566160"/>
            <a:ext cx="10058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0" i="0">
                <a:solidFill>
                  <a:srgbClr val="222222"/>
                </a:solidFill>
              </a:defRPr>
            </a:pPr>
            <a:r>
              <a:t>440 m²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75120" y="1783080"/>
            <a:ext cx="5029200" cy="274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4069080"/>
            <a:ext cx="5120640" cy="36576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300" b="1" i="0">
                <a:solidFill>
                  <a:srgbClr val="1F3A5F"/>
                </a:solidFill>
              </a:defRPr>
            </a:pPr>
            <a:r>
              <a:t>Why thermal zones (not longer single chamber)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75120" y="443484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222222"/>
                </a:solidFill>
              </a:defRPr>
            </a:pPr>
            <a:r>
              <a:t>•  Current chamber: RH rises 29 → 84 % across 10 trays in wet phase. Tray 9 barely dries.</a:t>
            </a:r>
          </a:p>
          <a:p>
            <a:pPr>
              <a:lnSpc>
                <a:spcPct val="120000"/>
              </a:lnSpc>
              <a:defRPr sz="1100">
                <a:solidFill>
                  <a:srgbClr val="222222"/>
                </a:solidFill>
              </a:defRPr>
            </a:pPr>
            <a:r>
              <a:t>•  Doubling trays in series wastes floor space; tail trays see near-saturated air.</a:t>
            </a:r>
          </a:p>
          <a:p>
            <a:pPr>
              <a:lnSpc>
                <a:spcPct val="120000"/>
              </a:lnSpc>
              <a:defRPr sz="1100">
                <a:solidFill>
                  <a:srgbClr val="222222"/>
                </a:solidFill>
              </a:defRPr>
            </a:pPr>
            <a:r>
              <a:t>•  Multi-inlet per zone → every zone operates in high-VPD region → shorter, more uniform drying.</a:t>
            </a:r>
          </a:p>
          <a:p>
            <a:pPr>
              <a:lnSpc>
                <a:spcPct val="120000"/>
              </a:lnSpc>
              <a:defRPr sz="1100">
                <a:solidFill>
                  <a:srgbClr val="222222"/>
                </a:solidFill>
              </a:defRPr>
            </a:pPr>
            <a:r>
              <a:t>•  Per-zone VPD bypass control becomes natural: dry zones can go cond-direct early.</a:t>
            </a:r>
          </a:p>
          <a:p>
            <a:pPr>
              <a:lnSpc>
                <a:spcPct val="120000"/>
              </a:lnSpc>
              <a:defRPr sz="1100">
                <a:solidFill>
                  <a:srgbClr val="222222"/>
                </a:solidFill>
              </a:defRPr>
            </a:pPr>
            <a:r>
              <a:t>•  Caveat: needs distribution manifold + multi-fan + control logic.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Discussion and next steps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1115568"/>
            <a:ext cx="11365992" cy="0"/>
          </a:xfrm>
          <a:prstGeom prst="line">
            <a:avLst/>
          </a:prstGeom>
          <a:ln w="127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280160"/>
            <a:ext cx="3657600" cy="4572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347472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400" b="1" i="0">
                <a:solidFill>
                  <a:srgbClr val="FFFFFF"/>
                </a:solidFill>
              </a:defRPr>
            </a:pPr>
            <a:r>
              <a:t>Immediate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222222"/>
                </a:solidFill>
              </a:defRPr>
            </a:pPr>
            <a:r>
              <a:t>•  Thermal storage retrofit for E2 (capture clipped midday heat).</a:t>
            </a:r>
          </a:p>
          <a:p>
            <a:pPr>
              <a:lnSpc>
                <a:spcPct val="120000"/>
              </a:lnSpc>
              <a:defRPr sz="1200">
                <a:solidFill>
                  <a:srgbClr val="222222"/>
                </a:solidFill>
              </a:defRPr>
            </a:pPr>
            <a:r>
              <a:t>•  Quantify storage size vs SEC benefit at 10 m² and larger.</a:t>
            </a:r>
          </a:p>
          <a:p>
            <a:pPr>
              <a:lnSpc>
                <a:spcPct val="120000"/>
              </a:lnSpc>
              <a:defRPr sz="1200">
                <a:solidFill>
                  <a:srgbClr val="222222"/>
                </a:solidFill>
              </a:defRPr>
            </a:pPr>
            <a:r>
              <a:t>•  Re-run E2 with 15, 20, 30 m² + storage to find the new knee.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280160"/>
            <a:ext cx="365760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353312"/>
            <a:ext cx="347472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400" b="1" i="0">
                <a:solidFill>
                  <a:srgbClr val="FFFFFF"/>
                </a:solidFill>
              </a:defRPr>
            </a:pPr>
            <a:r>
              <a:t>Medium term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92024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222222"/>
                </a:solidFill>
              </a:defRPr>
            </a:pPr>
            <a:r>
              <a:t>•  Multi-zone chamber model: 2-zone first, validate, then 4-zone.</a:t>
            </a:r>
          </a:p>
          <a:p>
            <a:pPr>
              <a:lnSpc>
                <a:spcPct val="120000"/>
              </a:lnSpc>
              <a:defRPr sz="1200">
                <a:solidFill>
                  <a:srgbClr val="222222"/>
                </a:solidFill>
              </a:defRPr>
            </a:pPr>
            <a:r>
              <a:t>•  Per-zone control: coupled VPD bypass + solar-priority scheduling.</a:t>
            </a:r>
          </a:p>
          <a:p>
            <a:pPr>
              <a:lnSpc>
                <a:spcPct val="120000"/>
              </a:lnSpc>
              <a:defRPr sz="1200">
                <a:solidFill>
                  <a:srgbClr val="222222"/>
                </a:solidFill>
              </a:defRPr>
            </a:pPr>
            <a:r>
              <a:t>•  Scale-up validation at 50 kg dry (pilot) before committing to 500 kg.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280160"/>
            <a:ext cx="3657600" cy="457200"/>
          </a:xfrm>
          <a:prstGeom prst="rect">
            <a:avLst/>
          </a:prstGeom>
          <a:solidFill>
            <a:srgbClr val="7A9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353312"/>
            <a:ext cx="347472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400" b="1" i="0">
                <a:solidFill>
                  <a:srgbClr val="FFFFFF"/>
                </a:solidFill>
              </a:defRPr>
            </a:pPr>
            <a:r>
              <a:t>Longer term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92024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222222"/>
                </a:solidFill>
              </a:defRPr>
            </a:pPr>
            <a:r>
              <a:t>•  Pilot at 500 kg fresh with local producer.</a:t>
            </a:r>
          </a:p>
          <a:p>
            <a:pPr>
              <a:lnSpc>
                <a:spcPct val="120000"/>
              </a:lnSpc>
              <a:defRPr sz="1200">
                <a:solidFill>
                  <a:srgbClr val="222222"/>
                </a:solidFill>
              </a:defRPr>
            </a:pPr>
            <a:r>
              <a:t>•  Economic model: CAPEX vs annualised electricity savings in Nepal context.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10972800" cy="64008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200" b="0" i="1">
                <a:solidFill>
                  <a:srgbClr val="1F3A5F"/>
                </a:solidFill>
              </a:defRPr>
            </a:pPr>
            <a:r>
              <a:t>Questions I'd like your input on: (1) is multi-zone worth modelling now or after thesis?  (2) thermal storage tank vs PCM? (3) should we bring in Taplejung for a third climate point before freezing RQ1?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