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72" r:id="rId9"/>
    <p:sldId id="264" r:id="rId10"/>
    <p:sldId id="266" r:id="rId11"/>
    <p:sldId id="267" r:id="rId12"/>
    <p:sldId id="269" r:id="rId13"/>
    <p:sldId id="270" r:id="rId14"/>
  </p:sldIdLst>
  <p:sldSz cx="1218882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66116" autoAdjust="0"/>
  </p:normalViewPr>
  <p:slideViewPr>
    <p:cSldViewPr snapToGrid="0" snapToObjects="1">
      <p:cViewPr varScale="1">
        <p:scale>
          <a:sx n="65" d="100"/>
          <a:sy n="65" d="100"/>
        </p:scale>
        <p:origin x="724" y="3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8243399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Opening, casual: this is a working session, not a presentation. The goal is</a:t>
            </a:r>
          </a:p>
          <a:p>
            <a:r>
              <a:t>to walk you through how the E2 and E3 configs are set up, what the</a:t>
            </a:r>
          </a:p>
          <a:p>
            <a:r>
              <a:t>simulations are actually doing, and why we think E2 is the better solar</a:t>
            </a:r>
          </a:p>
          <a:p>
            <a:r>
              <a:t>placement. Then I want to open it up to discuss scaling this to 500-1000 kg</a:t>
            </a:r>
          </a:p>
          <a:p>
            <a:r>
              <a:t>apples and whether a multi-zone chamber makes sense as the next step.</a:t>
            </a:r>
          </a:p>
          <a:p>
            <a:r>
              <a:t>Feel free to interrupt at any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Talking points:</a:t>
            </a:r>
          </a:p>
          <a:p>
            <a:r>
              <a:t>- Anchor this number in their head: 0.717 kWh of electricity per kg of water.</a:t>
            </a:r>
          </a:p>
          <a:p>
            <a:r>
              <a:t>  Every improvement from here on is referenced against this.</a:t>
            </a:r>
          </a:p>
          <a:p>
            <a:r>
              <a:t>- Worth pointing out that the closed-loop version (r &gt; 0) is more efficient</a:t>
            </a:r>
          </a:p>
          <a:p>
            <a:r>
              <a:t>  still (0.515 at r=0.9, from V2.1 table), but we use r=0 throughout the</a:t>
            </a:r>
          </a:p>
          <a:p>
            <a:r>
              <a:t>  solar/HRX configs because mixing is not needed once we have waste-heat</a:t>
            </a:r>
          </a:p>
          <a:p>
            <a:r>
              <a:t>  recovery from the HRX and a dedicated evap stream. Happy to discuss.</a:t>
            </a:r>
          </a:p>
          <a:p>
            <a:r>
              <a:t>- Product spec is apple slices, 6 mm thick, 3 kg dry mass, 19.2 kg water</a:t>
            </a:r>
          </a:p>
          <a:p>
            <a:r>
              <a:t>  to remove. Current scale is small, which comes up again at the end.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Talking points:</a:t>
            </a:r>
          </a:p>
          <a:p>
            <a:r>
              <a:t>- The HRX is a simple air-to-air cross-flow exchanger. The warm, moist</a:t>
            </a:r>
          </a:p>
          <a:p>
            <a:r>
              <a:t>  exhaust gives up its sensible heat to the incoming cold ambient stream.</a:t>
            </a:r>
          </a:p>
          <a:p>
            <a:r>
              <a:t>  70 % effectiveness is a reasonable commercial value.</a:t>
            </a:r>
          </a:p>
          <a:p>
            <a:r>
              <a:t>- The result is strong: 49 % SEC drop over A, from just one passive</a:t>
            </a:r>
          </a:p>
          <a:p>
            <a:r>
              <a:t>  component. No moving parts, no control logic, no electricity.</a:t>
            </a:r>
          </a:p>
          <a:p>
            <a:r>
              <a:t>- D2 is D1 plus dynamic evaporator compensation (the evap sizes itself</a:t>
            </a:r>
          </a:p>
          <a:p>
            <a:r>
              <a:t>  based on instantaneous ambient, not a fixed approach). The incremental</a:t>
            </a:r>
          </a:p>
          <a:p>
            <a:r>
              <a:t>  benefit is tiny, about 1 percentage point. Worth flagging that we</a:t>
            </a:r>
          </a:p>
          <a:p>
            <a:r>
              <a:t>  tested it because we suspected it mattered, and the data says it does</a:t>
            </a:r>
          </a:p>
          <a:p>
            <a:r>
              <a:t>  not, which is itself a useful negative result.</a:t>
            </a:r>
          </a:p>
          <a:p>
            <a:r>
              <a:t>- This sets up the natural next question: can we layer solar on top?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Talking points:</a:t>
            </a:r>
          </a:p>
          <a:p>
            <a:r>
              <a:t>- Solar is a preheat. It does not replace the HP. It just reduces the lift</a:t>
            </a:r>
          </a:p>
          <a:p>
            <a:r>
              <a:t>  the HP has to provide.</a:t>
            </a:r>
          </a:p>
          <a:p>
            <a:r>
              <a:t>- Quick numbers: B alone gets us to 0.488 at Kathmandu. D1 alone gets us to</a:t>
            </a:r>
          </a:p>
          <a:p>
            <a:r>
              <a:t>  0.365. So at 1350 m altitude, HRX is more valuable than 10 m² of solar</a:t>
            </a:r>
          </a:p>
          <a:p>
            <a:r>
              <a:t>  by itself. That was a bit surprising when we first saw it, and it</a:t>
            </a:r>
          </a:p>
          <a:p>
            <a:r>
              <a:t>  motivated combining them (E series).</a:t>
            </a:r>
          </a:p>
          <a:p>
            <a:r>
              <a:t>- The ladder chart tells the whole story: each component buys us something.</a:t>
            </a:r>
          </a:p>
          <a:p>
            <a:r>
              <a:t>  The open question: when we combine HRX + solar (E series), where exactly</a:t>
            </a:r>
          </a:p>
          <a:p>
            <a:r>
              <a:t>  should the solar sit in the stream?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/>
              <a:t>Talking points:</a:t>
            </a:r>
          </a:p>
          <a:p>
            <a:r>
              <a:rPr dirty="0"/>
              <a:t>- This is the crux slide. Two seemingly-equivalent layouts, both deliver</a:t>
            </a:r>
          </a:p>
          <a:p>
            <a:r>
              <a:rPr dirty="0"/>
              <a:t>  45 degree air to the chamber. Naively one might guess E3 is better</a:t>
            </a:r>
          </a:p>
          <a:p>
            <a:r>
              <a:rPr dirty="0"/>
              <a:t>  because its HP can idle completely in strong sun.</a:t>
            </a:r>
          </a:p>
          <a:p>
            <a:r>
              <a:rPr dirty="0"/>
              <a:t>- The control logic is important. In E2 the condenser is the final gate</a:t>
            </a:r>
          </a:p>
          <a:p>
            <a:r>
              <a:rPr dirty="0"/>
              <a:t>  and always targets 45. In E3 the collector is the final gate, so the</a:t>
            </a:r>
          </a:p>
          <a:p>
            <a:r>
              <a:rPr dirty="0"/>
              <a:t>  HP has to modulate its discharge pressure to leave the solar "just</a:t>
            </a:r>
          </a:p>
          <a:p>
            <a:r>
              <a:rPr dirty="0"/>
              <a:t>  enough room" to land exactly at 45.</a:t>
            </a:r>
          </a:p>
          <a:p>
            <a:r>
              <a:rPr dirty="0"/>
              <a:t>- Both are physically defensible topologies. Nobody has published a</a:t>
            </a:r>
          </a:p>
          <a:p>
            <a:r>
              <a:rPr dirty="0"/>
              <a:t>  head-to-head comparison with a validated thermodynamic model, which is</a:t>
            </a:r>
          </a:p>
          <a:p>
            <a:r>
              <a:rPr dirty="0"/>
              <a:t>  why we spent time on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Talking points:</a:t>
            </a:r>
          </a:p>
          <a:p>
            <a:r>
              <a:t>- Point to T_chamber at 45 flat. That is the control law working.</a:t>
            </a:r>
          </a:p>
          <a:p>
            <a:r>
              <a:t>- Point to W_comp: the compressor never goes to zero during daylight. It</a:t>
            </a:r>
          </a:p>
          <a:p>
            <a:r>
              <a:t>  dips when solar is strong but always keeps some load because the</a:t>
            </a:r>
          </a:p>
          <a:p>
            <a:r>
              <a:t>  condenser is the final heater.</a:t>
            </a:r>
          </a:p>
          <a:p>
            <a:r>
              <a:t>- SEC 0.123 at 10 m2 is a very good number for this climate. The</a:t>
            </a:r>
          </a:p>
          <a:p>
            <a:r>
              <a:t>  reference Config A is 0.500 for autumn KTM at r=0. So E2 is a</a:t>
            </a:r>
          </a:p>
          <a:p>
            <a:r>
              <a:t>  75 percent reduction from the bare HP baseline in autumn alone.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Talking points:</a:t>
            </a:r>
          </a:p>
          <a:p>
            <a:r>
              <a:t>- Look at the W_comp trace: it goes flat at zero during peak sun. That is</a:t>
            </a:r>
          </a:p>
          <a:p>
            <a:r>
              <a:t>  the HP stepping out of the way and letting solar do everything.</a:t>
            </a:r>
          </a:p>
          <a:p>
            <a:r>
              <a:t>- Higher COP is real: when the HP does run, it runs at a much lower</a:t>
            </a:r>
          </a:p>
          <a:p>
            <a:r>
              <a:t>  pressure ratio because T_cond is modulated down. So every kWh of</a:t>
            </a:r>
          </a:p>
          <a:p>
            <a:r>
              <a:t>  compressor work delivers more Q_cond.</a:t>
            </a:r>
          </a:p>
          <a:p>
            <a:r>
              <a:t>- Here's the puzzle: E3 has the higher mean COP AND the higher peak COP</a:t>
            </a:r>
          </a:p>
          <a:p>
            <a:r>
              <a:t>  AND no clipping. So why doesn't it win? Transition to the next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E2 on high-insolation hours the collector outlet can exceed </a:t>
            </a:r>
            <a:r>
              <a:rPr lang="en-US" dirty="0" err="1"/>
              <a:t>T_set</a:t>
            </a:r>
            <a:r>
              <a:rPr lang="en-US" dirty="0"/>
              <a:t>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The simulator enforces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/>
              <a:t>T_air_in,cond</a:t>
            </a:r>
            <a:r>
              <a:rPr lang="en-US" dirty="0"/>
              <a:t> = min(</a:t>
            </a:r>
            <a:r>
              <a:rPr lang="en-US" dirty="0" err="1"/>
              <a:t>T_after_solar</a:t>
            </a:r>
            <a:r>
              <a:rPr lang="en-US" dirty="0"/>
              <a:t>, </a:t>
            </a:r>
            <a:r>
              <a:rPr lang="en-US" dirty="0" err="1"/>
              <a:t>T_set</a:t>
            </a:r>
            <a:r>
              <a:rPr lang="en-US" dirty="0"/>
              <a:t>),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So any surplus is effectively wasted.</a:t>
            </a:r>
          </a:p>
          <a:p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(E3 topology) to avoid clipping does not reclaim that energy ,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Instead it degrades the collector’s loss term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And the HP has to make up the shortfall.</a:t>
            </a:r>
          </a:p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Talking points:</a:t>
            </a:r>
          </a:p>
          <a:p>
            <a:r>
              <a:t>- Hottel-Whillier-Bliss is the standard flat-plate collector equation.</a:t>
            </a:r>
          </a:p>
          <a:p>
            <a:r>
              <a:t>  The second term is the thermal loss: hotter collector inlet means more</a:t>
            </a:r>
          </a:p>
          <a:p>
            <a:r>
              <a:t>  heat leaks to ambient, lower efficiency.</a:t>
            </a:r>
          </a:p>
          <a:p>
            <a:r>
              <a:t>- In E3, the stream going into the collector has already been lifted by</a:t>
            </a:r>
          </a:p>
          <a:p>
            <a:r>
              <a:t>  the condenser, so it arrives hotter. The collector runs less</a:t>
            </a:r>
          </a:p>
          <a:p>
            <a:r>
              <a:t>  efficiently because it is trying to heat an already-warm stream.</a:t>
            </a:r>
          </a:p>
          <a:p>
            <a:r>
              <a:t>- In E2, the collector inlet is cooler (just ambient + HRX), so it runs</a:t>
            </a:r>
          </a:p>
          <a:p>
            <a:r>
              <a:t>  more efficiently. The HP then "tops off" any remaining lift.</a:t>
            </a:r>
          </a:p>
          <a:p>
            <a:r>
              <a:t>- The COP story is a distraction. Yes E3 has higher COP. But the</a:t>
            </a:r>
          </a:p>
          <a:p>
            <a:r>
              <a:t>  collector inefficiency costs more than the COP gain buys us.</a:t>
            </a:r>
          </a:p>
          <a:p>
            <a:r>
              <a:t>- Practical takeaway: always put the solar upstream of the condenser in</a:t>
            </a:r>
          </a:p>
          <a:p>
            <a:r>
              <a:t>  a series topology. This is the answer to "where should the solar go".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Talking points:</a:t>
            </a:r>
          </a:p>
          <a:p>
            <a:r>
              <a:t>- One might intuitively say: clipping is waste, let's downsize the</a:t>
            </a:r>
          </a:p>
          <a:p>
            <a:r>
              <a:t>  collector. The data says the opposite. Even at 44 percent clipping,</a:t>
            </a:r>
          </a:p>
          <a:p>
            <a:r>
              <a:t>  the remaining usable fraction still does more useful work than a</a:t>
            </a:r>
          </a:p>
          <a:p>
            <a:r>
              <a:t>  smaller collector would.</a:t>
            </a:r>
          </a:p>
          <a:p>
            <a:r>
              <a:t>- Monotonic SEC drop from 0.193 at 2 m2 to 0.123 at 10 m2. No plateau</a:t>
            </a:r>
          </a:p>
          <a:p>
            <a:r>
              <a:t>  in the 2-10 m2 range. We tried 15 and 20 m2 too and still saw small</a:t>
            </a:r>
          </a:p>
          <a:p>
            <a:r>
              <a:t>  improvements.</a:t>
            </a:r>
          </a:p>
          <a:p>
            <a:r>
              <a:t>- Insight: the HP duty cycle drops faster than the collector efficiency</a:t>
            </a:r>
          </a:p>
          <a:p>
            <a:r>
              <a:t>  does. Every kWh of usable solar displaces HP electricity that would</a:t>
            </a:r>
          </a:p>
          <a:p>
            <a:r>
              <a:t>  otherwise have been spent, and the HP duty cycle is the dominant cost.</a:t>
            </a:r>
          </a:p>
          <a:p>
            <a:r>
              <a:t>- The correct engineering response to clipping is thermal storage:</a:t>
            </a:r>
          </a:p>
          <a:p>
            <a:r>
              <a:t>  capture the midday surplus, release it in the evening.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Talking points:</a:t>
            </a:r>
          </a:p>
          <a:p>
            <a:r>
              <a:t>- Four seasons, two climates, eight data points. E2 beats E3 on all</a:t>
            </a:r>
          </a:p>
          <a:p>
            <a:r>
              <a:t>  eight. The mechanism is universal, not a fluke of one dataset.</a:t>
            </a:r>
          </a:p>
          <a:p>
            <a:r>
              <a:t>- Spring is the best season at both locations because the sun angle is</a:t>
            </a:r>
          </a:p>
          <a:p>
            <a:r>
              <a:t>  good and the ambient is not yet too hot (low U_L*(T_in - T_amb) loss).</a:t>
            </a:r>
          </a:p>
          <a:p>
            <a:r>
              <a:t>- Biratnagar is always absolute-lower SEC because warmer ambient means</a:t>
            </a:r>
          </a:p>
          <a:p>
            <a:r>
              <a:t>  smaller HP lift and better collector efficiency. But the E2 vs E3</a:t>
            </a:r>
          </a:p>
          <a:p>
            <a:r>
              <a:t>  advantage is almost the same percent.</a:t>
            </a:r>
          </a:p>
          <a:p>
            <a:r>
              <a:t>- If we had time we could run Taplejung (1820 m, even colder) but the</a:t>
            </a:r>
          </a:p>
          <a:p>
            <a:r>
              <a:t>  mechanism would play out the same way.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Talking points:</a:t>
            </a:r>
          </a:p>
          <a:p>
            <a:r>
              <a:t>- Each of the three gets about 30 seconds of discussion. The first is the</a:t>
            </a:r>
          </a:p>
          <a:p>
            <a:r>
              <a:t>  engineering answer to the research question. The second is a mental</a:t>
            </a:r>
          </a:p>
          <a:p>
            <a:r>
              <a:t>  model correction: COP has been overweighted in the SAHPD literature.</a:t>
            </a:r>
          </a:p>
          <a:p>
            <a:r>
              <a:t>  The third sets up the scale-up slide by pointing at storage as the</a:t>
            </a:r>
          </a:p>
          <a:p>
            <a:r>
              <a:t>  missing piece.</a:t>
            </a:r>
          </a:p>
          <a:p>
            <a:r>
              <a:t>- Offer to open up: does the professor want to discuss any of these?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Talking points:</a:t>
            </a:r>
          </a:p>
          <a:p>
            <a:r>
              <a:t>- Current lab scale is 3 kg dry mass. That gets us to interesting physics</a:t>
            </a:r>
          </a:p>
          <a:p>
            <a:r>
              <a:t>  but nowhere near a useful throughput. To dry even one small orchard's</a:t>
            </a:r>
          </a:p>
          <a:p>
            <a:r>
              <a:t>  apple crop in a season we need 500-1000 kg fresh per batch.</a:t>
            </a:r>
          </a:p>
          <a:p>
            <a:r>
              <a:t>- Linear scaling (just make the chamber bigger) does not work. Our</a:t>
            </a:r>
          </a:p>
          <a:p>
            <a:r>
              <a:t>  validation data (V2.3) shows RH climbing from 29 to 84 percent across</a:t>
            </a:r>
          </a:p>
          <a:p>
            <a:r>
              <a:t>  10 trays in wet phase. Add more trays and the tail of the chamber is</a:t>
            </a:r>
          </a:p>
          <a:p>
            <a:r>
              <a:t>  just a hot humid pipe doing no useful work.</a:t>
            </a:r>
          </a:p>
          <a:p>
            <a:r>
              <a:t>- Thermal-zone architecture: split the chamber into N zones, each with</a:t>
            </a:r>
          </a:p>
          <a:p>
            <a:r>
              <a:t>  its own hot-air inlet from a distribution manifold. Each zone sees</a:t>
            </a:r>
          </a:p>
          <a:p>
            <a:r>
              <a:t>  fresh 45 degree air instead of air that already passed through 5 wet</a:t>
            </a:r>
          </a:p>
          <a:p>
            <a:r>
              <a:t>  trays. Every zone operates in a high-VPD regime.</a:t>
            </a:r>
          </a:p>
          <a:p>
            <a:r>
              <a:t>- This also enables per-zone control: a nearly-dry zone can switch to</a:t>
            </a:r>
          </a:p>
          <a:p>
            <a:r>
              <a:t>  condenser-direct bypass early while wet zones still dehumidify. VPD</a:t>
            </a:r>
          </a:p>
          <a:p>
            <a:r>
              <a:t>  bypass logic is already validated in Config A (V3 in the report).</a:t>
            </a:r>
          </a:p>
          <a:p>
            <a:r>
              <a:t>- Open question for discussion: how many zones is optimal? Is there a</a:t>
            </a:r>
          </a:p>
          <a:p>
            <a:r>
              <a:t>  diminishing return? And what is the CAPEX penalty of the manifold</a:t>
            </a:r>
          </a:p>
          <a:p>
            <a:r>
              <a:t>  and multi-fan setup?</a:t>
            </a:r>
          </a:p>
          <a:p>
            <a:r>
              <a:t>- Collector area scales roughly linearly with water mass if we want</a:t>
            </a:r>
          </a:p>
          <a:p>
            <a:r>
              <a:t>  the same SEC. 220 m2 for 500 kg fresh is a realistic rooftop number</a:t>
            </a:r>
          </a:p>
          <a:p>
            <a:r>
              <a:t>  for a small orchard processing building.</a:t>
            </a:r>
          </a:p>
          <a:p>
            <a:r>
              <a:t>- The thermal storage retrofit from the clipping discussion fits in</a:t>
            </a:r>
          </a:p>
          <a:p>
            <a:r>
              <a:t>  here: at 220 m2 the absolute clipped energy is huge, so the case for</a:t>
            </a:r>
          </a:p>
          <a:p>
            <a:r>
              <a:t>  storage gets stronger as we scale up.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9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2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2926080"/>
            <a:ext cx="12188952" cy="109728"/>
          </a:xfrm>
          <a:prstGeom prst="rect">
            <a:avLst/>
          </a:prstGeom>
          <a:solidFill>
            <a:srgbClr val="E56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1463040"/>
            <a:ext cx="10972800" cy="1097280"/>
          </a:xfrm>
          <a:prstGeom prst="rect">
            <a:avLst/>
          </a:prstGeom>
          <a:noFill/>
        </p:spPr>
        <p:txBody>
          <a:bodyPr wrap="square" tIns="25400" bIns="25400">
            <a:spAutoFit/>
          </a:bodyPr>
          <a:lstStyle/>
          <a:p>
            <a:pPr>
              <a:defRPr sz="4400" b="1" i="0">
                <a:solidFill>
                  <a:srgbClr val="1F3A5F"/>
                </a:solidFill>
              </a:defRPr>
            </a:pPr>
            <a:r>
              <a:t>Where should the solar go?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2286000"/>
            <a:ext cx="10972800" cy="548640"/>
          </a:xfrm>
          <a:prstGeom prst="rect">
            <a:avLst/>
          </a:prstGeom>
          <a:noFill/>
        </p:spPr>
        <p:txBody>
          <a:bodyPr wrap="square" tIns="25400" bIns="25400">
            <a:spAutoFit/>
          </a:bodyPr>
          <a:lstStyle/>
          <a:p>
            <a:pPr>
              <a:defRPr sz="2200" b="0" i="1">
                <a:solidFill>
                  <a:srgbClr val="555555"/>
                </a:solidFill>
              </a:defRPr>
            </a:pPr>
            <a:r>
              <a:t>Comparing E2 vs E3 for the solar-assisted heat pump dryer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200400"/>
            <a:ext cx="10972800" cy="297517"/>
          </a:xfrm>
          <a:prstGeom prst="rect">
            <a:avLst/>
          </a:prstGeom>
          <a:noFill/>
        </p:spPr>
        <p:txBody>
          <a:bodyPr wrap="square" tIns="25400" bIns="25400">
            <a:spAutoFit/>
          </a:bodyPr>
          <a:lstStyle/>
          <a:p>
            <a:pPr>
              <a:defRPr sz="1600" b="0" i="0">
                <a:solidFill>
                  <a:srgbClr val="555555"/>
                </a:solidFill>
              </a:defRPr>
            </a:pPr>
            <a:r>
              <a:rPr dirty="0"/>
              <a:t>20 April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4284345"/>
            <a:ext cx="10972800" cy="297517"/>
          </a:xfrm>
          <a:prstGeom prst="rect">
            <a:avLst/>
          </a:prstGeom>
          <a:noFill/>
        </p:spPr>
        <p:txBody>
          <a:bodyPr wrap="square" tIns="25400" bIns="25400">
            <a:spAutoFit/>
          </a:bodyPr>
          <a:lstStyle/>
          <a:p>
            <a:pPr>
              <a:defRPr sz="1300" b="0" i="1">
                <a:solidFill>
                  <a:srgbClr val="555555"/>
                </a:solidFill>
              </a:defRPr>
            </a:pPr>
            <a:r>
              <a:rPr sz="1600" b="1" dirty="0"/>
              <a:t>Agenda: base dryer → HRX → solar placement (E2 vs E3) → clipping → scale-up ideas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11480" y="201168"/>
            <a:ext cx="11338560" cy="502920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pPr>
              <a:defRPr sz="2600" b="1">
                <a:solidFill>
                  <a:srgbClr val="1F3A5F"/>
                </a:solidFill>
              </a:defRPr>
            </a:pPr>
            <a:r>
              <a:t>Base dryer: Config A (HP only, closed loop)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749808"/>
            <a:ext cx="11338560" cy="320040"/>
          </a:xfrm>
          <a:prstGeom prst="rect">
            <a:avLst/>
          </a:prstGeom>
          <a:noFill/>
        </p:spPr>
        <p:txBody>
          <a:bodyPr wrap="none" tIns="0">
            <a:spAutoFit/>
          </a:bodyPr>
          <a:lstStyle/>
          <a:p>
            <a:pPr>
              <a:defRPr sz="1300" i="1">
                <a:solidFill>
                  <a:srgbClr val="555555"/>
                </a:solidFill>
              </a:defRPr>
            </a:pPr>
            <a:r>
              <a:t>This is the machine before we add anything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11480" y="1115568"/>
            <a:ext cx="11365992" cy="0"/>
          </a:xfrm>
          <a:prstGeom prst="line">
            <a:avLst/>
          </a:prstGeom>
          <a:ln w="1270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ounded Rectangle 4"/>
          <p:cNvSpPr/>
          <p:nvPr/>
        </p:nvSpPr>
        <p:spPr>
          <a:xfrm>
            <a:off x="914400" y="2011680"/>
            <a:ext cx="914400" cy="731520"/>
          </a:xfrm>
          <a:prstGeom prst="roundRect">
            <a:avLst>
              <a:gd name="adj" fmla="val 15000"/>
            </a:avLst>
          </a:prstGeom>
          <a:solidFill>
            <a:srgbClr val="7A9E9F"/>
          </a:solidFill>
          <a:ln w="9525">
            <a:solidFill>
              <a:srgbClr val="2222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50800" tIns="25400" rIns="50800" bIns="25400"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Ambient</a:t>
            </a:r>
            <a:br/>
            <a:r>
              <a:t>air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194560" y="2011680"/>
            <a:ext cx="822960" cy="731520"/>
          </a:xfrm>
          <a:prstGeom prst="roundRect">
            <a:avLst>
              <a:gd name="adj" fmla="val 15000"/>
            </a:avLst>
          </a:prstGeom>
          <a:solidFill>
            <a:srgbClr val="555555"/>
          </a:solidFill>
          <a:ln w="9525">
            <a:solidFill>
              <a:srgbClr val="2222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50800" tIns="25400" rIns="50800" bIns="25400"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Mix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383280" y="2011680"/>
            <a:ext cx="914400" cy="731520"/>
          </a:xfrm>
          <a:prstGeom prst="roundRect">
            <a:avLst>
              <a:gd name="adj" fmla="val 15000"/>
            </a:avLst>
          </a:prstGeom>
          <a:solidFill>
            <a:srgbClr val="2E86AB"/>
          </a:solidFill>
          <a:ln w="9525">
            <a:solidFill>
              <a:srgbClr val="2222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50800" tIns="25400" rIns="50800" bIns="25400"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Evap</a:t>
            </a:r>
            <a:br/>
            <a:r>
              <a:t>(dehum.)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663439" y="2011680"/>
            <a:ext cx="914400" cy="731520"/>
          </a:xfrm>
          <a:prstGeom prst="roundRect">
            <a:avLst>
              <a:gd name="adj" fmla="val 15000"/>
            </a:avLst>
          </a:prstGeom>
          <a:solidFill>
            <a:srgbClr val="E56B4A"/>
          </a:solidFill>
          <a:ln w="9525">
            <a:solidFill>
              <a:srgbClr val="2222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50800" tIns="25400" rIns="50800" bIns="25400"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Cond</a:t>
            </a:r>
            <a:br/>
            <a:r>
              <a:t>(heat)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43600" y="2011680"/>
            <a:ext cx="1280160" cy="731520"/>
          </a:xfrm>
          <a:prstGeom prst="roundRect">
            <a:avLst>
              <a:gd name="adj" fmla="val 15000"/>
            </a:avLst>
          </a:prstGeom>
          <a:solidFill>
            <a:srgbClr val="1F3A5F"/>
          </a:solidFill>
          <a:ln w="9525">
            <a:solidFill>
              <a:srgbClr val="2222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50800" tIns="25400" rIns="50800" bIns="25400"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Chamber</a:t>
            </a:r>
            <a:br/>
            <a:r>
              <a:t>(10 trays)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589520" y="2011680"/>
            <a:ext cx="914400" cy="731520"/>
          </a:xfrm>
          <a:prstGeom prst="roundRect">
            <a:avLst>
              <a:gd name="adj" fmla="val 15000"/>
            </a:avLst>
          </a:prstGeom>
          <a:solidFill>
            <a:srgbClr val="555555"/>
          </a:solidFill>
          <a:ln w="9525">
            <a:solidFill>
              <a:srgbClr val="2222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50800" tIns="25400" rIns="50800" bIns="25400"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Exhaust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1828800" y="2377440"/>
            <a:ext cx="365760" cy="0"/>
          </a:xfrm>
          <a:prstGeom prst="line">
            <a:avLst/>
          </a:prstGeom>
          <a:ln w="19050">
            <a:solidFill>
              <a:srgbClr val="222222"/>
            </a:solidFill>
            <a:tailEnd type="triangle" w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3017520" y="2377440"/>
            <a:ext cx="365760" cy="0"/>
          </a:xfrm>
          <a:prstGeom prst="line">
            <a:avLst/>
          </a:prstGeom>
          <a:ln w="19050">
            <a:solidFill>
              <a:srgbClr val="222222"/>
            </a:solidFill>
            <a:tailEnd type="triangle" w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4297680" y="2377440"/>
            <a:ext cx="365759" cy="0"/>
          </a:xfrm>
          <a:prstGeom prst="line">
            <a:avLst/>
          </a:prstGeom>
          <a:ln w="19050">
            <a:solidFill>
              <a:srgbClr val="222222"/>
            </a:solidFill>
            <a:tailEnd type="triangle" w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5577839" y="2377440"/>
            <a:ext cx="365761" cy="0"/>
          </a:xfrm>
          <a:prstGeom prst="line">
            <a:avLst/>
          </a:prstGeom>
          <a:ln w="19050">
            <a:solidFill>
              <a:srgbClr val="222222"/>
            </a:solidFill>
            <a:tailEnd type="triangle" w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7223760" y="2377440"/>
            <a:ext cx="365760" cy="0"/>
          </a:xfrm>
          <a:prstGeom prst="line">
            <a:avLst/>
          </a:prstGeom>
          <a:ln w="19050">
            <a:solidFill>
              <a:srgbClr val="222222"/>
            </a:solidFill>
            <a:tailEnd type="triangle" w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 flipH="1">
            <a:off x="0" y="2743200"/>
            <a:ext cx="0" cy="731520"/>
          </a:xfrm>
          <a:prstGeom prst="line">
            <a:avLst/>
          </a:prstGeom>
          <a:ln w="15240">
            <a:solidFill>
              <a:srgbClr val="E56B4A"/>
            </a:solidFill>
            <a:prstDash val="lgDash"/>
            <a:tailEnd type="triangle" w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 flipV="1">
            <a:off x="0" y="2743200"/>
            <a:ext cx="0" cy="731520"/>
          </a:xfrm>
          <a:prstGeom prst="line">
            <a:avLst/>
          </a:prstGeom>
          <a:ln w="15240">
            <a:solidFill>
              <a:srgbClr val="E56B4A"/>
            </a:solidFill>
            <a:prstDash val="lgDash"/>
            <a:tailEnd type="triangle" w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0" y="2743200"/>
            <a:ext cx="0" cy="731520"/>
          </a:xfrm>
          <a:prstGeom prst="line">
            <a:avLst/>
          </a:prstGeom>
          <a:ln w="15240">
            <a:solidFill>
              <a:srgbClr val="E56B4A"/>
            </a:solidFill>
            <a:prstDash val="lgDash"/>
            <a:tailEnd type="triangle" w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 flipH="1">
            <a:off x="0" y="3474720"/>
            <a:ext cx="0" cy="0"/>
          </a:xfrm>
          <a:prstGeom prst="line">
            <a:avLst/>
          </a:prstGeom>
          <a:ln w="15240">
            <a:solidFill>
              <a:srgbClr val="E56B4A"/>
            </a:solidFill>
            <a:prstDash val="lgDash"/>
            <a:tailEnd type="triangle" w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3840480" y="3429000"/>
            <a:ext cx="3657600" cy="274320"/>
          </a:xfrm>
          <a:prstGeom prst="rect">
            <a:avLst/>
          </a:prstGeom>
          <a:noFill/>
        </p:spPr>
        <p:txBody>
          <a:bodyPr wrap="square" tIns="25400" bIns="25400">
            <a:spAutoFit/>
          </a:bodyPr>
          <a:lstStyle/>
          <a:p>
            <a:pPr>
              <a:defRPr sz="1000" b="0" i="1">
                <a:solidFill>
                  <a:srgbClr val="E56B4A"/>
                </a:solidFill>
              </a:defRPr>
            </a:pPr>
            <a:r>
              <a:t>recirculation r (closed loop)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291840" y="1737360"/>
            <a:ext cx="2377439" cy="1188720"/>
          </a:xfrm>
          <a:prstGeom prst="rect">
            <a:avLst/>
          </a:prstGeom>
          <a:noFill/>
          <a:ln w="9525">
            <a:solidFill>
              <a:srgbClr val="555555"/>
            </a:solidFill>
            <a:prstDash val="lg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3383280" y="1691640"/>
            <a:ext cx="2194560" cy="256032"/>
          </a:xfrm>
          <a:prstGeom prst="rect">
            <a:avLst/>
          </a:prstGeom>
          <a:noFill/>
        </p:spPr>
        <p:txBody>
          <a:bodyPr wrap="square" tIns="25400" bIns="25400">
            <a:spAutoFit/>
          </a:bodyPr>
          <a:lstStyle/>
          <a:p>
            <a:pPr>
              <a:defRPr sz="1000" b="0" i="1">
                <a:solidFill>
                  <a:srgbClr val="555555"/>
                </a:solidFill>
              </a:defRPr>
            </a:pPr>
            <a:r>
              <a:t>Heat pump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960" y="3749039"/>
            <a:ext cx="10515600" cy="8506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defRPr sz="1400">
                <a:solidFill>
                  <a:srgbClr val="222222"/>
                </a:solidFill>
              </a:defRPr>
            </a:pPr>
            <a:r>
              <a:rPr dirty="0"/>
              <a:t>•  HP condenser always heats to </a:t>
            </a:r>
            <a:r>
              <a:rPr dirty="0" err="1"/>
              <a:t>T_set</a:t>
            </a:r>
            <a:r>
              <a:rPr dirty="0"/>
              <a:t> = 45 °C; chamber holds exactly that.</a:t>
            </a:r>
          </a:p>
          <a:p>
            <a:pPr>
              <a:lnSpc>
                <a:spcPct val="120000"/>
              </a:lnSpc>
              <a:defRPr sz="1400">
                <a:solidFill>
                  <a:srgbClr val="222222"/>
                </a:solidFill>
              </a:defRPr>
            </a:pPr>
            <a:r>
              <a:rPr dirty="0"/>
              <a:t>•  Fresh apples: 22.5 kg wet ≈ 3 kg dry. Water to remove: 19.2 kg. Drying time 13.8 h.</a:t>
            </a:r>
          </a:p>
          <a:p>
            <a:pPr>
              <a:lnSpc>
                <a:spcPct val="120000"/>
              </a:lnSpc>
              <a:defRPr sz="1400">
                <a:solidFill>
                  <a:srgbClr val="222222"/>
                </a:solidFill>
              </a:defRPr>
            </a:pPr>
            <a:r>
              <a:rPr dirty="0"/>
              <a:t>•  10 trays in series, cross-flow, 1.1 m/s.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302752" y="5010912"/>
            <a:ext cx="3474720" cy="1097280"/>
          </a:xfrm>
          <a:prstGeom prst="roundRect">
            <a:avLst/>
          </a:prstGeom>
          <a:solidFill>
            <a:srgbClr val="EEEEEE"/>
          </a:solidFill>
          <a:ln w="15240">
            <a:solidFill>
              <a:srgbClr val="1F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8302752" y="5056632"/>
            <a:ext cx="3474720" cy="365760"/>
          </a:xfrm>
          <a:prstGeom prst="rect">
            <a:avLst/>
          </a:prstGeom>
          <a:noFill/>
        </p:spPr>
        <p:txBody>
          <a:bodyPr wrap="square" tIns="25400" bIns="25400">
            <a:spAutoFit/>
          </a:bodyPr>
          <a:lstStyle/>
          <a:p>
            <a:pPr algn="ctr">
              <a:defRPr sz="1200" b="1" i="0">
                <a:solidFill>
                  <a:srgbClr val="1F3A5F"/>
                </a:solidFill>
              </a:defRPr>
            </a:pPr>
            <a:r>
              <a:t>Config A baseline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302752" y="5422392"/>
            <a:ext cx="3474720" cy="457200"/>
          </a:xfrm>
          <a:prstGeom prst="rect">
            <a:avLst/>
          </a:prstGeom>
          <a:noFill/>
        </p:spPr>
        <p:txBody>
          <a:bodyPr wrap="square" tIns="25400" bIns="25400">
            <a:spAutoFit/>
          </a:bodyPr>
          <a:lstStyle/>
          <a:p>
            <a:pPr algn="ctr">
              <a:defRPr sz="2000" b="1" i="0">
                <a:solidFill>
                  <a:srgbClr val="E56B4A"/>
                </a:solidFill>
              </a:defRPr>
            </a:pPr>
            <a:r>
              <a:t>SEC = 0.717 kWh/kg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302752" y="5788152"/>
            <a:ext cx="3474720" cy="274320"/>
          </a:xfrm>
          <a:prstGeom prst="rect">
            <a:avLst/>
          </a:prstGeom>
          <a:noFill/>
        </p:spPr>
        <p:txBody>
          <a:bodyPr wrap="square" tIns="25400" bIns="25400">
            <a:spAutoFit/>
          </a:bodyPr>
          <a:lstStyle/>
          <a:p>
            <a:pPr algn="ctr">
              <a:defRPr sz="1000" b="0" i="1">
                <a:solidFill>
                  <a:srgbClr val="555555"/>
                </a:solidFill>
              </a:defRPr>
            </a:pPr>
            <a:r>
              <a:t>Kathmandu, annual, r = 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11480" y="201168"/>
            <a:ext cx="11338560" cy="502920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pPr>
              <a:defRPr sz="2600" b="1">
                <a:solidFill>
                  <a:srgbClr val="1F3A5F"/>
                </a:solidFill>
              </a:defRPr>
            </a:pPr>
            <a:r>
              <a:t>Step 1: add a heat-recovery exchanger (Config D1)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749808"/>
            <a:ext cx="11338560" cy="320040"/>
          </a:xfrm>
          <a:prstGeom prst="rect">
            <a:avLst/>
          </a:prstGeom>
          <a:noFill/>
        </p:spPr>
        <p:txBody>
          <a:bodyPr wrap="none" tIns="0">
            <a:spAutoFit/>
          </a:bodyPr>
          <a:lstStyle/>
          <a:p>
            <a:pPr>
              <a:defRPr sz="1300" i="1">
                <a:solidFill>
                  <a:srgbClr val="555555"/>
                </a:solidFill>
              </a:defRPr>
            </a:pPr>
            <a:r>
              <a:t>Exhaust pre-heats the condenser inlet through a 70 % effective HRX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11480" y="1115568"/>
            <a:ext cx="11365992" cy="0"/>
          </a:xfrm>
          <a:prstGeom prst="line">
            <a:avLst/>
          </a:prstGeom>
          <a:ln w="1270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7767145" y="1463039"/>
            <a:ext cx="4211495" cy="4645149"/>
          </a:xfrm>
          <a:prstGeom prst="roundRect">
            <a:avLst/>
          </a:prstGeom>
          <a:solidFill>
            <a:srgbClr val="EEEEEE"/>
          </a:solidFill>
          <a:ln>
            <a:solidFill>
              <a:srgbClr val="1F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955279" y="1600200"/>
            <a:ext cx="3931920" cy="365760"/>
          </a:xfrm>
          <a:prstGeom prst="rect">
            <a:avLst/>
          </a:prstGeom>
          <a:noFill/>
        </p:spPr>
        <p:txBody>
          <a:bodyPr wrap="square" tIns="25400" bIns="25400">
            <a:spAutoFit/>
          </a:bodyPr>
          <a:lstStyle/>
          <a:p>
            <a:pPr algn="ctr">
              <a:defRPr sz="1200" b="1" i="0">
                <a:solidFill>
                  <a:srgbClr val="1F3A5F"/>
                </a:solidFill>
              </a:defRPr>
            </a:pPr>
            <a:r>
              <a:rPr dirty="0"/>
              <a:t>Kathmandu annual, r = 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46720" y="2103120"/>
            <a:ext cx="2377440" cy="320040"/>
          </a:xfrm>
          <a:prstGeom prst="rect">
            <a:avLst/>
          </a:prstGeom>
          <a:noFill/>
        </p:spPr>
        <p:txBody>
          <a:bodyPr wrap="square" tIns="25400" bIns="25400">
            <a:spAutoFit/>
          </a:bodyPr>
          <a:lstStyle/>
          <a:p>
            <a:pPr>
              <a:defRPr sz="1200" b="0" i="0">
                <a:solidFill>
                  <a:srgbClr val="222222"/>
                </a:solidFill>
              </a:defRPr>
            </a:pPr>
            <a:r>
              <a:t>Config A (HP only)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32720" y="2103120"/>
            <a:ext cx="1554480" cy="320040"/>
          </a:xfrm>
          <a:prstGeom prst="rect">
            <a:avLst/>
          </a:prstGeom>
          <a:noFill/>
        </p:spPr>
        <p:txBody>
          <a:bodyPr wrap="square" tIns="25400" bIns="25400">
            <a:spAutoFit/>
          </a:bodyPr>
          <a:lstStyle/>
          <a:p>
            <a:pPr>
              <a:defRPr sz="1600" b="1" i="0">
                <a:solidFill>
                  <a:srgbClr val="555555"/>
                </a:solidFill>
              </a:defRPr>
            </a:pPr>
            <a:r>
              <a:t>0.717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46720" y="2926079"/>
            <a:ext cx="2377440" cy="320040"/>
          </a:xfrm>
          <a:prstGeom prst="rect">
            <a:avLst/>
          </a:prstGeom>
          <a:noFill/>
        </p:spPr>
        <p:txBody>
          <a:bodyPr wrap="square" tIns="25400" bIns="25400">
            <a:spAutoFit/>
          </a:bodyPr>
          <a:lstStyle/>
          <a:p>
            <a:pPr>
              <a:defRPr sz="1200" b="0" i="0">
                <a:solidFill>
                  <a:srgbClr val="222222"/>
                </a:solidFill>
              </a:defRPr>
            </a:pPr>
            <a:r>
              <a:t>Config D1 (HP + HRX)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332720" y="2926079"/>
            <a:ext cx="1554480" cy="320040"/>
          </a:xfrm>
          <a:prstGeom prst="rect">
            <a:avLst/>
          </a:prstGeom>
          <a:noFill/>
        </p:spPr>
        <p:txBody>
          <a:bodyPr wrap="square" tIns="25400" bIns="25400">
            <a:spAutoFit/>
          </a:bodyPr>
          <a:lstStyle/>
          <a:p>
            <a:pPr>
              <a:defRPr sz="1600" b="1" i="0">
                <a:solidFill>
                  <a:srgbClr val="2E86AB"/>
                </a:solidFill>
              </a:defRPr>
            </a:pPr>
            <a:r>
              <a:t>0.365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46720" y="3749039"/>
            <a:ext cx="2377440" cy="320040"/>
          </a:xfrm>
          <a:prstGeom prst="rect">
            <a:avLst/>
          </a:prstGeom>
          <a:noFill/>
        </p:spPr>
        <p:txBody>
          <a:bodyPr wrap="square" tIns="25400" bIns="25400">
            <a:spAutoFit/>
          </a:bodyPr>
          <a:lstStyle/>
          <a:p>
            <a:pPr>
              <a:defRPr sz="1200" b="0" i="0">
                <a:solidFill>
                  <a:srgbClr val="222222"/>
                </a:solidFill>
              </a:defRPr>
            </a:pPr>
            <a:r>
              <a:t>Config D2 (HRX + dyn evap)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332720" y="3749039"/>
            <a:ext cx="1554480" cy="320040"/>
          </a:xfrm>
          <a:prstGeom prst="rect">
            <a:avLst/>
          </a:prstGeom>
          <a:noFill/>
        </p:spPr>
        <p:txBody>
          <a:bodyPr wrap="square" tIns="25400" bIns="25400">
            <a:spAutoFit/>
          </a:bodyPr>
          <a:lstStyle/>
          <a:p>
            <a:pPr>
              <a:defRPr sz="1600" b="1" i="0">
                <a:solidFill>
                  <a:srgbClr val="2E86AB"/>
                </a:solidFill>
              </a:defRPr>
            </a:pPr>
            <a:r>
              <a:t>0.354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46720" y="4754880"/>
            <a:ext cx="3931920" cy="1128514"/>
          </a:xfrm>
          <a:prstGeom prst="rect">
            <a:avLst/>
          </a:prstGeom>
          <a:noFill/>
        </p:spPr>
        <p:txBody>
          <a:bodyPr wrap="square" tIns="25400" bIns="25400">
            <a:spAutoFit/>
          </a:bodyPr>
          <a:lstStyle/>
          <a:p>
            <a:pPr>
              <a:defRPr sz="1100" b="0" i="1">
                <a:solidFill>
                  <a:srgbClr val="222222"/>
                </a:solidFill>
              </a:defRPr>
            </a:pPr>
            <a:r>
              <a:rPr sz="1400" dirty="0"/>
              <a:t>HRX alone cuts SEC by 49 %.</a:t>
            </a:r>
          </a:p>
          <a:p>
            <a:pPr>
              <a:defRPr sz="1100" b="0" i="1">
                <a:solidFill>
                  <a:srgbClr val="222222"/>
                </a:solidFill>
              </a:defRPr>
            </a:pPr>
            <a:r>
              <a:rPr sz="1400" dirty="0"/>
              <a:t>D2 (dynamic </a:t>
            </a:r>
            <a:r>
              <a:rPr sz="1400" dirty="0" err="1"/>
              <a:t>evap</a:t>
            </a:r>
            <a:r>
              <a:rPr sz="1400" dirty="0"/>
              <a:t>) </a:t>
            </a:r>
            <a:r>
              <a:rPr lang="en-US" sz="1400" dirty="0"/>
              <a:t>uses the exhaust that would have been thrown away</a:t>
            </a:r>
            <a:r>
              <a:rPr sz="1400" dirty="0"/>
              <a:t>,</a:t>
            </a:r>
          </a:p>
          <a:p>
            <a:pPr>
              <a:defRPr sz="1100" b="0" i="1">
                <a:solidFill>
                  <a:srgbClr val="222222"/>
                </a:solidFill>
              </a:defRPr>
            </a:pPr>
            <a:r>
              <a:rPr sz="1400" dirty="0"/>
              <a:t>HRX captures the bulk of the recovery.</a:t>
            </a:r>
            <a:r>
              <a:rPr lang="en-US" sz="1400" dirty="0"/>
              <a:t> D1 vs D2 0.01kWh/</a:t>
            </a:r>
            <a:r>
              <a:rPr lang="en-US" sz="1400" dirty="0" err="1"/>
              <a:t>kg,minor</a:t>
            </a:r>
            <a:r>
              <a:rPr lang="en-US" sz="1400" dirty="0"/>
              <a:t> refinement </a:t>
            </a:r>
            <a:endParaRPr sz="1400" dirty="0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FD2EE9FF-6538-4F79-B110-21E0E219F15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1625" y="1244539"/>
            <a:ext cx="4352473" cy="2403477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DA90C3E2-312D-44B6-AA1C-E8356B987A8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93834" y="3822707"/>
            <a:ext cx="4352473" cy="2403479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11480" y="201168"/>
            <a:ext cx="11338560" cy="502920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pPr>
              <a:defRPr sz="2600" b="1">
                <a:solidFill>
                  <a:srgbClr val="1F3A5F"/>
                </a:solidFill>
              </a:defRPr>
            </a:pPr>
            <a:r>
              <a:t>Step 2: add a solar collector (Config B)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749808"/>
            <a:ext cx="11338560" cy="320040"/>
          </a:xfrm>
          <a:prstGeom prst="rect">
            <a:avLst/>
          </a:prstGeom>
          <a:noFill/>
        </p:spPr>
        <p:txBody>
          <a:bodyPr wrap="none" tIns="0">
            <a:spAutoFit/>
          </a:bodyPr>
          <a:lstStyle/>
          <a:p>
            <a:pPr>
              <a:defRPr sz="1300" i="1">
                <a:solidFill>
                  <a:srgbClr val="555555"/>
                </a:solidFill>
              </a:defRPr>
            </a:pPr>
            <a:r>
              <a:t>Flat-plate collector in series before the condenser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11480" y="1115568"/>
            <a:ext cx="11365992" cy="0"/>
          </a:xfrm>
          <a:prstGeom prst="line">
            <a:avLst/>
          </a:prstGeom>
          <a:ln w="1270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ounded Rectangle 4"/>
          <p:cNvSpPr/>
          <p:nvPr/>
        </p:nvSpPr>
        <p:spPr>
          <a:xfrm>
            <a:off x="914400" y="1645920"/>
            <a:ext cx="914400" cy="731520"/>
          </a:xfrm>
          <a:prstGeom prst="roundRect">
            <a:avLst>
              <a:gd name="adj" fmla="val 15000"/>
            </a:avLst>
          </a:prstGeom>
          <a:solidFill>
            <a:srgbClr val="7A9E9F"/>
          </a:solidFill>
          <a:ln w="9525">
            <a:solidFill>
              <a:srgbClr val="2222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50800" tIns="25400" rIns="50800" bIns="25400"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Ambient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194560" y="1645920"/>
            <a:ext cx="1097280" cy="731520"/>
          </a:xfrm>
          <a:prstGeom prst="roundRect">
            <a:avLst>
              <a:gd name="adj" fmla="val 15000"/>
            </a:avLst>
          </a:prstGeom>
          <a:solidFill>
            <a:srgbClr val="F0A623"/>
          </a:solidFill>
          <a:ln w="9525">
            <a:solidFill>
              <a:srgbClr val="2222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50800" tIns="25400" rIns="50800" bIns="25400"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Solar</a:t>
            </a:r>
            <a:br/>
            <a:r>
              <a:t>collector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57600" y="1645920"/>
            <a:ext cx="914400" cy="731520"/>
          </a:xfrm>
          <a:prstGeom prst="roundRect">
            <a:avLst>
              <a:gd name="adj" fmla="val 15000"/>
            </a:avLst>
          </a:prstGeom>
          <a:solidFill>
            <a:srgbClr val="E56B4A"/>
          </a:solidFill>
          <a:ln w="9525">
            <a:solidFill>
              <a:srgbClr val="2222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50800" tIns="25400" rIns="50800" bIns="25400"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Cond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937760" y="1645920"/>
            <a:ext cx="1280160" cy="731520"/>
          </a:xfrm>
          <a:prstGeom prst="roundRect">
            <a:avLst>
              <a:gd name="adj" fmla="val 15000"/>
            </a:avLst>
          </a:prstGeom>
          <a:solidFill>
            <a:srgbClr val="1F3A5F"/>
          </a:solidFill>
          <a:ln w="9525">
            <a:solidFill>
              <a:srgbClr val="2222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50800" tIns="25400" rIns="50800" bIns="25400"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Chamber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0" y="1645920"/>
            <a:ext cx="914400" cy="731520"/>
          </a:xfrm>
          <a:prstGeom prst="roundRect">
            <a:avLst>
              <a:gd name="adj" fmla="val 15000"/>
            </a:avLst>
          </a:prstGeom>
          <a:solidFill>
            <a:srgbClr val="555555"/>
          </a:solidFill>
          <a:ln w="9525">
            <a:solidFill>
              <a:srgbClr val="2222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50800" tIns="25400" rIns="50800" bIns="25400"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Exhaust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1828800" y="2011680"/>
            <a:ext cx="365760" cy="0"/>
          </a:xfrm>
          <a:prstGeom prst="line">
            <a:avLst/>
          </a:prstGeom>
          <a:ln w="19050">
            <a:solidFill>
              <a:srgbClr val="222222"/>
            </a:solidFill>
            <a:tailEnd type="triangle" w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3291840" y="2011680"/>
            <a:ext cx="365760" cy="0"/>
          </a:xfrm>
          <a:prstGeom prst="line">
            <a:avLst/>
          </a:prstGeom>
          <a:ln w="19050">
            <a:solidFill>
              <a:srgbClr val="222222"/>
            </a:solidFill>
            <a:tailEnd type="triangle" w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4572000" y="2011680"/>
            <a:ext cx="365760" cy="0"/>
          </a:xfrm>
          <a:prstGeom prst="line">
            <a:avLst/>
          </a:prstGeom>
          <a:ln w="19050">
            <a:solidFill>
              <a:srgbClr val="222222"/>
            </a:solidFill>
            <a:tailEnd type="triangle" w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6217920" y="2011680"/>
            <a:ext cx="365760" cy="0"/>
          </a:xfrm>
          <a:prstGeom prst="line">
            <a:avLst/>
          </a:prstGeom>
          <a:ln w="19050">
            <a:solidFill>
              <a:srgbClr val="222222"/>
            </a:solidFill>
            <a:tailEnd type="triangle" w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632460" y="2497532"/>
            <a:ext cx="1051560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defRPr sz="1400">
                <a:solidFill>
                  <a:srgbClr val="222222"/>
                </a:solidFill>
              </a:defRPr>
            </a:pPr>
            <a:r>
              <a:rPr dirty="0"/>
              <a:t>•  When the sun is out, solar does part of the heating. HP takes what is left to reach 45 °C.</a:t>
            </a:r>
          </a:p>
          <a:p>
            <a:pPr>
              <a:lnSpc>
                <a:spcPct val="120000"/>
              </a:lnSpc>
              <a:defRPr sz="1400">
                <a:solidFill>
                  <a:srgbClr val="222222"/>
                </a:solidFill>
              </a:defRPr>
            </a:pPr>
            <a:r>
              <a:rPr dirty="0"/>
              <a:t>•  At night or under cloud cover, solar contributes zero and the HP runs full duty, so SEC can never be worse than Config A.</a:t>
            </a:r>
          </a:p>
          <a:p>
            <a:pPr>
              <a:lnSpc>
                <a:spcPct val="120000"/>
              </a:lnSpc>
              <a:defRPr sz="1400">
                <a:solidFill>
                  <a:srgbClr val="222222"/>
                </a:solidFill>
              </a:defRPr>
            </a:pPr>
            <a:r>
              <a:rPr dirty="0"/>
              <a:t>•  With 10 m² collector: solar provides 32 % of total heating at Kathmandu, 46 % at Biratnagar.</a:t>
            </a:r>
          </a:p>
          <a:p>
            <a:pPr>
              <a:lnSpc>
                <a:spcPct val="120000"/>
              </a:lnSpc>
              <a:defRPr sz="1400">
                <a:solidFill>
                  <a:srgbClr val="222222"/>
                </a:solidFill>
              </a:defRPr>
            </a:pPr>
            <a:r>
              <a:rPr dirty="0"/>
              <a:t>•  Observation: B alone beats A but does not beat D1 at Kathmandu. Solar alone &lt; HRX alone at high altitude.</a:t>
            </a:r>
          </a:p>
        </p:txBody>
      </p:sp>
      <p:pic>
        <p:nvPicPr>
          <p:cNvPr id="16" name="Picture 15" descr="ladder.png">
            <a:extLst>
              <a:ext uri="{FF2B5EF4-FFF2-40B4-BE49-F238E27FC236}">
                <a16:creationId xmlns:a16="http://schemas.microsoft.com/office/drawing/2014/main" id="{D06E5B56-444D-430C-B52E-0E6E81B084E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66975" y="3884038"/>
            <a:ext cx="6675120" cy="2772794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11480" y="201168"/>
            <a:ext cx="11338560" cy="502920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pPr>
              <a:defRPr sz="2600" b="1">
                <a:solidFill>
                  <a:srgbClr val="1F3A5F"/>
                </a:solidFill>
              </a:defRPr>
            </a:pPr>
            <a:r>
              <a:t>The question: where does the solar go in E configs?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749808"/>
            <a:ext cx="11338560" cy="320040"/>
          </a:xfrm>
          <a:prstGeom prst="rect">
            <a:avLst/>
          </a:prstGeom>
          <a:noFill/>
        </p:spPr>
        <p:txBody>
          <a:bodyPr wrap="none" tIns="0">
            <a:spAutoFit/>
          </a:bodyPr>
          <a:lstStyle/>
          <a:p>
            <a:pPr>
              <a:defRPr sz="1300" i="1">
                <a:solidFill>
                  <a:srgbClr val="555555"/>
                </a:solidFill>
              </a:defRPr>
            </a:pPr>
            <a:r>
              <a:t>Both have an HRX and a solar collector, only the ordering differs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11480" y="1115568"/>
            <a:ext cx="11365992" cy="0"/>
          </a:xfrm>
          <a:prstGeom prst="line">
            <a:avLst/>
          </a:prstGeom>
          <a:ln w="1270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ounded Rectangle 4"/>
          <p:cNvSpPr/>
          <p:nvPr/>
        </p:nvSpPr>
        <p:spPr>
          <a:xfrm>
            <a:off x="548640" y="1920240"/>
            <a:ext cx="777240" cy="685800"/>
          </a:xfrm>
          <a:prstGeom prst="roundRect">
            <a:avLst>
              <a:gd name="adj" fmla="val 15000"/>
            </a:avLst>
          </a:prstGeom>
          <a:solidFill>
            <a:srgbClr val="7A9E9F"/>
          </a:solidFill>
          <a:ln w="9525">
            <a:solidFill>
              <a:srgbClr val="2222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50800" tIns="25400" rIns="50800" bIns="25400"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Amb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600200" y="1920240"/>
            <a:ext cx="777240" cy="685800"/>
          </a:xfrm>
          <a:prstGeom prst="roundRect">
            <a:avLst>
              <a:gd name="adj" fmla="val 15000"/>
            </a:avLst>
          </a:prstGeom>
          <a:solidFill>
            <a:srgbClr val="7A9E9F"/>
          </a:solidFill>
          <a:ln w="9525">
            <a:solidFill>
              <a:srgbClr val="2222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50800" tIns="25400" rIns="50800" bIns="25400"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HRX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651760" y="1920240"/>
            <a:ext cx="868680" cy="685800"/>
          </a:xfrm>
          <a:prstGeom prst="roundRect">
            <a:avLst>
              <a:gd name="adj" fmla="val 15000"/>
            </a:avLst>
          </a:prstGeom>
          <a:solidFill>
            <a:srgbClr val="F0A623"/>
          </a:solidFill>
          <a:ln w="9525">
            <a:solidFill>
              <a:srgbClr val="2222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50800" tIns="25400" rIns="50800" bIns="25400"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Solar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703320" y="1920240"/>
            <a:ext cx="868680" cy="685800"/>
          </a:xfrm>
          <a:prstGeom prst="roundRect">
            <a:avLst>
              <a:gd name="adj" fmla="val 15000"/>
            </a:avLst>
          </a:prstGeom>
          <a:solidFill>
            <a:srgbClr val="E56B4A"/>
          </a:solidFill>
          <a:ln w="9525">
            <a:solidFill>
              <a:srgbClr val="2222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50800" tIns="25400" rIns="50800" bIns="25400"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Cond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754880" y="1920240"/>
            <a:ext cx="1051560" cy="685800"/>
          </a:xfrm>
          <a:prstGeom prst="roundRect">
            <a:avLst>
              <a:gd name="adj" fmla="val 15000"/>
            </a:avLst>
          </a:prstGeom>
          <a:solidFill>
            <a:srgbClr val="1F3A5F"/>
          </a:solidFill>
          <a:ln w="9525">
            <a:solidFill>
              <a:srgbClr val="2222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50800" tIns="25400" rIns="50800" bIns="25400"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Chamber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989320" y="1920240"/>
            <a:ext cx="777240" cy="685800"/>
          </a:xfrm>
          <a:prstGeom prst="roundRect">
            <a:avLst>
              <a:gd name="adj" fmla="val 15000"/>
            </a:avLst>
          </a:prstGeom>
          <a:solidFill>
            <a:srgbClr val="555555"/>
          </a:solidFill>
          <a:ln w="9525">
            <a:solidFill>
              <a:srgbClr val="2222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50800" tIns="25400" rIns="50800" bIns="25400"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Exh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1325880" y="2263140"/>
            <a:ext cx="274320" cy="0"/>
          </a:xfrm>
          <a:prstGeom prst="line">
            <a:avLst/>
          </a:prstGeom>
          <a:ln w="19050">
            <a:solidFill>
              <a:srgbClr val="222222"/>
            </a:solidFill>
            <a:tailEnd type="triangle" w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2377440" y="2263140"/>
            <a:ext cx="274320" cy="0"/>
          </a:xfrm>
          <a:prstGeom prst="line">
            <a:avLst/>
          </a:prstGeom>
          <a:ln w="19050">
            <a:solidFill>
              <a:srgbClr val="222222"/>
            </a:solidFill>
            <a:tailEnd type="triangle" w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3520440" y="2263140"/>
            <a:ext cx="182880" cy="0"/>
          </a:xfrm>
          <a:prstGeom prst="line">
            <a:avLst/>
          </a:prstGeom>
          <a:ln w="19050">
            <a:solidFill>
              <a:srgbClr val="222222"/>
            </a:solidFill>
            <a:tailEnd type="triangle" w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4572000" y="2263140"/>
            <a:ext cx="182880" cy="0"/>
          </a:xfrm>
          <a:prstGeom prst="line">
            <a:avLst/>
          </a:prstGeom>
          <a:ln w="19050">
            <a:solidFill>
              <a:srgbClr val="222222"/>
            </a:solidFill>
            <a:tailEnd type="triangle" w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5806440" y="2263140"/>
            <a:ext cx="182880" cy="0"/>
          </a:xfrm>
          <a:prstGeom prst="line">
            <a:avLst/>
          </a:prstGeom>
          <a:ln w="19050">
            <a:solidFill>
              <a:srgbClr val="222222"/>
            </a:solidFill>
            <a:tailEnd type="triangle" w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0" y="2606040"/>
            <a:ext cx="0" cy="411480"/>
          </a:xfrm>
          <a:prstGeom prst="line">
            <a:avLst/>
          </a:prstGeom>
          <a:ln w="12700">
            <a:solidFill>
              <a:srgbClr val="555555"/>
            </a:solidFill>
            <a:prstDash val="lgDash"/>
            <a:tailEnd type="triangle" w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 flipH="1">
            <a:off x="0" y="3017520"/>
            <a:ext cx="0" cy="0"/>
          </a:xfrm>
          <a:prstGeom prst="line">
            <a:avLst/>
          </a:prstGeom>
          <a:ln w="12700">
            <a:solidFill>
              <a:srgbClr val="555555"/>
            </a:solidFill>
            <a:prstDash val="lgDash"/>
            <a:tailEnd type="triangle" w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 flipV="1">
            <a:off x="0" y="2606040"/>
            <a:ext cx="0" cy="411480"/>
          </a:xfrm>
          <a:prstGeom prst="line">
            <a:avLst/>
          </a:prstGeom>
          <a:ln w="12700">
            <a:solidFill>
              <a:srgbClr val="555555"/>
            </a:solidFill>
            <a:prstDash val="lgDash"/>
            <a:tailEnd type="triangle" w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1600200" y="3063240"/>
            <a:ext cx="4114800" cy="274320"/>
          </a:xfrm>
          <a:prstGeom prst="rect">
            <a:avLst/>
          </a:prstGeom>
          <a:noFill/>
        </p:spPr>
        <p:txBody>
          <a:bodyPr wrap="square" tIns="25400" bIns="25400">
            <a:spAutoFit/>
          </a:bodyPr>
          <a:lstStyle/>
          <a:p>
            <a:pPr>
              <a:defRPr sz="900" b="0" i="1">
                <a:solidFill>
                  <a:srgbClr val="555555"/>
                </a:solidFill>
              </a:defRPr>
            </a:pPr>
            <a:r>
              <a:t>exhaust pre-heats HRX (70 % effective)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1463040"/>
            <a:ext cx="6217920" cy="320040"/>
          </a:xfrm>
          <a:prstGeom prst="rect">
            <a:avLst/>
          </a:prstGeom>
          <a:noFill/>
        </p:spPr>
        <p:txBody>
          <a:bodyPr wrap="square" tIns="25400" bIns="25400">
            <a:spAutoFit/>
          </a:bodyPr>
          <a:lstStyle/>
          <a:p>
            <a:pPr>
              <a:defRPr sz="1300" b="1" i="0">
                <a:solidFill>
                  <a:srgbClr val="2E86AB"/>
                </a:solidFill>
              </a:defRPr>
            </a:pPr>
            <a:r>
              <a:t>E2: Amb → HRX → Solar → Cond → Chamber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48640" y="4297680"/>
            <a:ext cx="777240" cy="685800"/>
          </a:xfrm>
          <a:prstGeom prst="roundRect">
            <a:avLst>
              <a:gd name="adj" fmla="val 15000"/>
            </a:avLst>
          </a:prstGeom>
          <a:solidFill>
            <a:srgbClr val="7A9E9F"/>
          </a:solidFill>
          <a:ln w="9525">
            <a:solidFill>
              <a:srgbClr val="2222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50800" tIns="25400" rIns="50800" bIns="25400"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Amb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600200" y="4297680"/>
            <a:ext cx="777240" cy="685800"/>
          </a:xfrm>
          <a:prstGeom prst="roundRect">
            <a:avLst>
              <a:gd name="adj" fmla="val 15000"/>
            </a:avLst>
          </a:prstGeom>
          <a:solidFill>
            <a:srgbClr val="7A9E9F"/>
          </a:solidFill>
          <a:ln w="9525">
            <a:solidFill>
              <a:srgbClr val="2222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50800" tIns="25400" rIns="50800" bIns="25400"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HRX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2651760" y="4297680"/>
            <a:ext cx="868680" cy="685800"/>
          </a:xfrm>
          <a:prstGeom prst="roundRect">
            <a:avLst>
              <a:gd name="adj" fmla="val 15000"/>
            </a:avLst>
          </a:prstGeom>
          <a:solidFill>
            <a:srgbClr val="E56B4A"/>
          </a:solidFill>
          <a:ln w="9525">
            <a:solidFill>
              <a:srgbClr val="2222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50800" tIns="25400" rIns="50800" bIns="25400"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Cond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703320" y="4297680"/>
            <a:ext cx="868680" cy="685800"/>
          </a:xfrm>
          <a:prstGeom prst="roundRect">
            <a:avLst>
              <a:gd name="adj" fmla="val 15000"/>
            </a:avLst>
          </a:prstGeom>
          <a:solidFill>
            <a:srgbClr val="F0A623"/>
          </a:solidFill>
          <a:ln w="9525">
            <a:solidFill>
              <a:srgbClr val="2222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50800" tIns="25400" rIns="50800" bIns="25400"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Solar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754880" y="4297680"/>
            <a:ext cx="1051560" cy="685800"/>
          </a:xfrm>
          <a:prstGeom prst="roundRect">
            <a:avLst>
              <a:gd name="adj" fmla="val 15000"/>
            </a:avLst>
          </a:prstGeom>
          <a:solidFill>
            <a:srgbClr val="1F3A5F"/>
          </a:solidFill>
          <a:ln w="9525">
            <a:solidFill>
              <a:srgbClr val="2222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50800" tIns="25400" rIns="50800" bIns="25400"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Chamber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989320" y="4297680"/>
            <a:ext cx="777240" cy="685800"/>
          </a:xfrm>
          <a:prstGeom prst="roundRect">
            <a:avLst>
              <a:gd name="adj" fmla="val 15000"/>
            </a:avLst>
          </a:prstGeom>
          <a:solidFill>
            <a:srgbClr val="555555"/>
          </a:solidFill>
          <a:ln w="9525">
            <a:solidFill>
              <a:srgbClr val="2222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50800" tIns="25400" rIns="50800" bIns="25400"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Exh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1325880" y="4640580"/>
            <a:ext cx="274320" cy="0"/>
          </a:xfrm>
          <a:prstGeom prst="line">
            <a:avLst/>
          </a:prstGeom>
          <a:ln w="19050">
            <a:solidFill>
              <a:srgbClr val="222222"/>
            </a:solidFill>
            <a:tailEnd type="triangle" w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2377440" y="4640580"/>
            <a:ext cx="274320" cy="0"/>
          </a:xfrm>
          <a:prstGeom prst="line">
            <a:avLst/>
          </a:prstGeom>
          <a:ln w="19050">
            <a:solidFill>
              <a:srgbClr val="222222"/>
            </a:solidFill>
            <a:tailEnd type="triangle" w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3520440" y="4640580"/>
            <a:ext cx="182880" cy="0"/>
          </a:xfrm>
          <a:prstGeom prst="line">
            <a:avLst/>
          </a:prstGeom>
          <a:ln w="19050">
            <a:solidFill>
              <a:srgbClr val="222222"/>
            </a:solidFill>
            <a:tailEnd type="triangle" w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4572000" y="4640580"/>
            <a:ext cx="182880" cy="0"/>
          </a:xfrm>
          <a:prstGeom prst="line">
            <a:avLst/>
          </a:prstGeom>
          <a:ln w="19050">
            <a:solidFill>
              <a:srgbClr val="222222"/>
            </a:solidFill>
            <a:tailEnd type="triangle" w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5806440" y="4640580"/>
            <a:ext cx="182880" cy="0"/>
          </a:xfrm>
          <a:prstGeom prst="line">
            <a:avLst/>
          </a:prstGeom>
          <a:ln w="19050">
            <a:solidFill>
              <a:srgbClr val="222222"/>
            </a:solidFill>
            <a:tailEnd type="triangle" w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0" y="4983480"/>
            <a:ext cx="0" cy="411480"/>
          </a:xfrm>
          <a:prstGeom prst="line">
            <a:avLst/>
          </a:prstGeom>
          <a:ln w="12700">
            <a:solidFill>
              <a:srgbClr val="555555"/>
            </a:solidFill>
            <a:prstDash val="lgDash"/>
            <a:tailEnd type="triangle" w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 flipH="1">
            <a:off x="0" y="5394960"/>
            <a:ext cx="0" cy="0"/>
          </a:xfrm>
          <a:prstGeom prst="line">
            <a:avLst/>
          </a:prstGeom>
          <a:ln w="12700">
            <a:solidFill>
              <a:srgbClr val="555555"/>
            </a:solidFill>
            <a:prstDash val="lgDash"/>
            <a:tailEnd type="triangle" w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 flipV="1">
            <a:off x="0" y="4983480"/>
            <a:ext cx="0" cy="411480"/>
          </a:xfrm>
          <a:prstGeom prst="line">
            <a:avLst/>
          </a:prstGeom>
          <a:ln w="12700">
            <a:solidFill>
              <a:srgbClr val="555555"/>
            </a:solidFill>
            <a:prstDash val="lgDash"/>
            <a:tailEnd type="triangle" w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TextBox 34"/>
          <p:cNvSpPr txBox="1"/>
          <p:nvPr/>
        </p:nvSpPr>
        <p:spPr>
          <a:xfrm>
            <a:off x="1600200" y="5440680"/>
            <a:ext cx="4114800" cy="274320"/>
          </a:xfrm>
          <a:prstGeom prst="rect">
            <a:avLst/>
          </a:prstGeom>
          <a:noFill/>
        </p:spPr>
        <p:txBody>
          <a:bodyPr wrap="square" tIns="25400" bIns="25400">
            <a:spAutoFit/>
          </a:bodyPr>
          <a:lstStyle/>
          <a:p>
            <a:pPr>
              <a:defRPr sz="900" b="0" i="1">
                <a:solidFill>
                  <a:srgbClr val="555555"/>
                </a:solidFill>
              </a:defRPr>
            </a:pPr>
            <a:r>
              <a:t>exhaust pre-heats HRX (70 % effective)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48640" y="3840480"/>
            <a:ext cx="6217920" cy="320040"/>
          </a:xfrm>
          <a:prstGeom prst="rect">
            <a:avLst/>
          </a:prstGeom>
          <a:noFill/>
        </p:spPr>
        <p:txBody>
          <a:bodyPr wrap="square" tIns="25400" bIns="25400">
            <a:spAutoFit/>
          </a:bodyPr>
          <a:lstStyle/>
          <a:p>
            <a:pPr>
              <a:defRPr sz="1300" b="1" i="0">
                <a:solidFill>
                  <a:srgbClr val="E56B4A"/>
                </a:solidFill>
              </a:defRPr>
            </a:pPr>
            <a:r>
              <a:t>E3: Amb → HRX → Cond → Solar → Chamber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7498079" y="1463040"/>
            <a:ext cx="4389120" cy="4937760"/>
          </a:xfrm>
          <a:prstGeom prst="roundRect">
            <a:avLst/>
          </a:prstGeom>
          <a:solidFill>
            <a:srgbClr val="EEEEEE"/>
          </a:solidFill>
          <a:ln>
            <a:solidFill>
              <a:srgbClr val="1F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7863838" y="1630680"/>
            <a:ext cx="4206240" cy="365760"/>
          </a:xfrm>
          <a:prstGeom prst="rect">
            <a:avLst/>
          </a:prstGeom>
          <a:noFill/>
        </p:spPr>
        <p:txBody>
          <a:bodyPr wrap="square" tIns="25400" bIns="25400">
            <a:spAutoFit/>
          </a:bodyPr>
          <a:lstStyle/>
          <a:p>
            <a:pPr>
              <a:defRPr sz="1400" b="1" i="0">
                <a:solidFill>
                  <a:srgbClr val="1F3A5F"/>
                </a:solidFill>
              </a:defRPr>
            </a:pPr>
            <a:r>
              <a:rPr dirty="0"/>
              <a:t>Control logic differs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589520" y="1965960"/>
            <a:ext cx="4206240" cy="320040"/>
          </a:xfrm>
          <a:prstGeom prst="rect">
            <a:avLst/>
          </a:prstGeom>
          <a:noFill/>
        </p:spPr>
        <p:txBody>
          <a:bodyPr wrap="square" tIns="25400" bIns="25400">
            <a:spAutoFit/>
          </a:bodyPr>
          <a:lstStyle/>
          <a:p>
            <a:pPr>
              <a:defRPr sz="1200" b="1" i="0">
                <a:solidFill>
                  <a:srgbClr val="1F3A5F"/>
                </a:solidFill>
              </a:defRPr>
            </a:pPr>
            <a:r>
              <a:rPr dirty="0"/>
              <a:t>E2: Cond targets T_set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589520" y="2438399"/>
            <a:ext cx="4206240" cy="1463040"/>
          </a:xfrm>
          <a:prstGeom prst="rect">
            <a:avLst/>
          </a:prstGeom>
          <a:noFill/>
        </p:spPr>
        <p:txBody>
          <a:bodyPr wrap="square" tIns="25400" bIns="25400">
            <a:spAutoFit/>
          </a:bodyPr>
          <a:lstStyle/>
          <a:p>
            <a:pPr>
              <a:defRPr sz="1100" b="0" i="0">
                <a:solidFill>
                  <a:srgbClr val="222222"/>
                </a:solidFill>
              </a:defRPr>
            </a:pPr>
            <a:r>
              <a:rPr dirty="0"/>
              <a:t>If solar delivers the air already above 45 °C, the simulator clips to T_set and HP idles (</a:t>
            </a:r>
            <a:r>
              <a:rPr dirty="0" err="1"/>
              <a:t>Q_cond</a:t>
            </a:r>
            <a:r>
              <a:rPr dirty="0"/>
              <a:t> = 0). Any extra solar heat above 45 °C is discarded (no storage).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589520" y="3108960"/>
            <a:ext cx="4206240" cy="320040"/>
          </a:xfrm>
          <a:prstGeom prst="rect">
            <a:avLst/>
          </a:prstGeom>
          <a:noFill/>
        </p:spPr>
        <p:txBody>
          <a:bodyPr wrap="square" tIns="25400" bIns="25400">
            <a:spAutoFit/>
          </a:bodyPr>
          <a:lstStyle/>
          <a:p>
            <a:pPr>
              <a:defRPr sz="1200" b="1" i="0">
                <a:solidFill>
                  <a:srgbClr val="1F3A5F"/>
                </a:solidFill>
              </a:defRPr>
            </a:pPr>
            <a:r>
              <a:rPr dirty="0"/>
              <a:t>E3: Solar-priority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586470" y="3459480"/>
            <a:ext cx="4206240" cy="2011680"/>
          </a:xfrm>
          <a:prstGeom prst="rect">
            <a:avLst/>
          </a:prstGeom>
          <a:noFill/>
        </p:spPr>
        <p:txBody>
          <a:bodyPr wrap="square" tIns="25400" bIns="25400">
            <a:spAutoFit/>
          </a:bodyPr>
          <a:lstStyle/>
          <a:p>
            <a:pPr>
              <a:defRPr sz="1100" b="0" i="0">
                <a:solidFill>
                  <a:srgbClr val="222222"/>
                </a:solidFill>
              </a:defRPr>
            </a:pPr>
            <a:r>
              <a:rPr dirty="0"/>
              <a:t>HP modulates </a:t>
            </a:r>
            <a:r>
              <a:rPr dirty="0" err="1"/>
              <a:t>T_cond</a:t>
            </a:r>
            <a:r>
              <a:rPr dirty="0"/>
              <a:t> so that </a:t>
            </a:r>
            <a:r>
              <a:rPr dirty="0" err="1"/>
              <a:t>T_after_solar</a:t>
            </a:r>
            <a:r>
              <a:rPr dirty="0"/>
              <a:t> exactly equals T_set. If solar alone from the HRX output reaches T_set, HP goes OFF entirely. No clipping by design.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11480" y="201168"/>
            <a:ext cx="11338560" cy="502920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pPr>
              <a:defRPr sz="2600" b="1">
                <a:solidFill>
                  <a:srgbClr val="1F3A5F"/>
                </a:solidFill>
              </a:defRPr>
            </a:pPr>
            <a:r>
              <a:t>E2 in action (Kathmandu autumn, 10 m²)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749808"/>
            <a:ext cx="11338560" cy="320040"/>
          </a:xfrm>
          <a:prstGeom prst="rect">
            <a:avLst/>
          </a:prstGeom>
          <a:noFill/>
        </p:spPr>
        <p:txBody>
          <a:bodyPr wrap="none" tIns="0">
            <a:spAutoFit/>
          </a:bodyPr>
          <a:lstStyle/>
          <a:p>
            <a:pPr>
              <a:defRPr sz="1300" i="1">
                <a:solidFill>
                  <a:srgbClr val="555555"/>
                </a:solidFill>
              </a:defRPr>
            </a:pPr>
            <a:r>
              <a:t>Solar lifts before the condenser; condenser fills the gap to 45 °C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11480" y="1115568"/>
            <a:ext cx="11365992" cy="0"/>
          </a:xfrm>
          <a:prstGeom prst="line">
            <a:avLst/>
          </a:prstGeom>
          <a:ln w="1270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8778239" y="1463040"/>
            <a:ext cx="3284483" cy="1965957"/>
          </a:xfrm>
          <a:prstGeom prst="roundRect">
            <a:avLst/>
          </a:prstGeom>
          <a:solidFill>
            <a:srgbClr val="EEEEEE"/>
          </a:solidFill>
          <a:ln w="19050">
            <a:solidFill>
              <a:srgbClr val="2E86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869680" y="1554480"/>
            <a:ext cx="3017520" cy="365760"/>
          </a:xfrm>
          <a:prstGeom prst="rect">
            <a:avLst/>
          </a:prstGeom>
          <a:noFill/>
        </p:spPr>
        <p:txBody>
          <a:bodyPr wrap="square" tIns="25400" bIns="25400">
            <a:spAutoFit/>
          </a:bodyPr>
          <a:lstStyle/>
          <a:p>
            <a:pPr>
              <a:defRPr sz="1400" b="1" i="0">
                <a:solidFill>
                  <a:srgbClr val="2E86AB"/>
                </a:solidFill>
              </a:defRPr>
            </a:pPr>
            <a:r>
              <a:t>E2 behaviour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869680" y="1965960"/>
            <a:ext cx="3017520" cy="1094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defRPr sz="1100">
                <a:solidFill>
                  <a:srgbClr val="222222"/>
                </a:solidFill>
              </a:defRPr>
            </a:pPr>
            <a:r>
              <a:rPr dirty="0"/>
              <a:t>•  </a:t>
            </a:r>
            <a:r>
              <a:rPr dirty="0" err="1"/>
              <a:t>T_chamber</a:t>
            </a:r>
            <a:r>
              <a:rPr dirty="0"/>
              <a:t> holds 45 °C the entire run</a:t>
            </a:r>
          </a:p>
          <a:p>
            <a:pPr>
              <a:lnSpc>
                <a:spcPct val="120000"/>
              </a:lnSpc>
              <a:defRPr sz="1100">
                <a:solidFill>
                  <a:srgbClr val="222222"/>
                </a:solidFill>
              </a:defRPr>
            </a:pPr>
            <a:r>
              <a:rPr dirty="0"/>
              <a:t>•  HP run</a:t>
            </a:r>
            <a:r>
              <a:rPr lang="en-US" dirty="0"/>
              <a:t>s when solar outlet is not sufficient</a:t>
            </a:r>
          </a:p>
          <a:p>
            <a:pPr>
              <a:lnSpc>
                <a:spcPct val="120000"/>
              </a:lnSpc>
              <a:defRPr sz="1100">
                <a:solidFill>
                  <a:srgbClr val="222222"/>
                </a:solidFill>
              </a:defRPr>
            </a:pPr>
            <a:r>
              <a:rPr lang="en-US" dirty="0"/>
              <a:t>•  SEC = 0.123 kWh/kg</a:t>
            </a:r>
          </a:p>
          <a:p>
            <a:pPr>
              <a:lnSpc>
                <a:spcPct val="120000"/>
              </a:lnSpc>
              <a:defRPr sz="1100">
                <a:solidFill>
                  <a:srgbClr val="222222"/>
                </a:solidFill>
              </a:defRPr>
            </a:pPr>
            <a:r>
              <a:rPr dirty="0"/>
              <a:t>•  Mean COP over run = 5.25</a:t>
            </a:r>
          </a:p>
          <a:p>
            <a:pPr>
              <a:lnSpc>
                <a:spcPct val="120000"/>
              </a:lnSpc>
              <a:defRPr sz="1100">
                <a:solidFill>
                  <a:srgbClr val="222222"/>
                </a:solidFill>
              </a:defRPr>
            </a:pPr>
            <a:r>
              <a:rPr dirty="0"/>
              <a:t>•  Total drying time 16.9 h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19B75241-317E-47EF-AC00-658A28974ED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24440" y="3926611"/>
            <a:ext cx="4890480" cy="2450388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8AB9E971-4CEE-4C4D-9408-57323940AD1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6102" y="1319732"/>
            <a:ext cx="6298859" cy="5213761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11480" y="201168"/>
            <a:ext cx="11338560" cy="502920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pPr>
              <a:defRPr sz="2600" b="1">
                <a:solidFill>
                  <a:srgbClr val="1F3A5F"/>
                </a:solidFill>
              </a:defRPr>
            </a:pPr>
            <a:r>
              <a:t>E3 in action (Kathmandu autumn, 10 m²)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749808"/>
            <a:ext cx="11338560" cy="320040"/>
          </a:xfrm>
          <a:prstGeom prst="rect">
            <a:avLst/>
          </a:prstGeom>
          <a:noFill/>
        </p:spPr>
        <p:txBody>
          <a:bodyPr wrap="none" tIns="0">
            <a:spAutoFit/>
          </a:bodyPr>
          <a:lstStyle/>
          <a:p>
            <a:pPr>
              <a:defRPr sz="1300" i="1">
                <a:solidFill>
                  <a:srgbClr val="555555"/>
                </a:solidFill>
              </a:defRPr>
            </a:pPr>
            <a:r>
              <a:t>HP modulates T_cond to leave solar just enough room to reach 45 °C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11480" y="1115568"/>
            <a:ext cx="11365992" cy="0"/>
          </a:xfrm>
          <a:prstGeom prst="line">
            <a:avLst/>
          </a:prstGeom>
          <a:ln w="1270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8778240" y="1463040"/>
            <a:ext cx="3200400" cy="2299332"/>
          </a:xfrm>
          <a:prstGeom prst="roundRect">
            <a:avLst/>
          </a:prstGeom>
          <a:solidFill>
            <a:srgbClr val="EEEEEE"/>
          </a:solidFill>
          <a:ln w="19050">
            <a:solidFill>
              <a:srgbClr val="E56B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869680" y="1554480"/>
            <a:ext cx="3017520" cy="365760"/>
          </a:xfrm>
          <a:prstGeom prst="rect">
            <a:avLst/>
          </a:prstGeom>
          <a:noFill/>
        </p:spPr>
        <p:txBody>
          <a:bodyPr wrap="square" tIns="25400" bIns="25400">
            <a:spAutoFit/>
          </a:bodyPr>
          <a:lstStyle/>
          <a:p>
            <a:pPr>
              <a:defRPr sz="1400" b="1" i="0">
                <a:solidFill>
                  <a:srgbClr val="E56B4A"/>
                </a:solidFill>
              </a:defRPr>
            </a:pPr>
            <a:r>
              <a:t>E3 behaviour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869680" y="1965960"/>
            <a:ext cx="3017520" cy="15007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defRPr sz="1100">
                <a:solidFill>
                  <a:srgbClr val="222222"/>
                </a:solidFill>
              </a:defRPr>
            </a:pPr>
            <a:r>
              <a:rPr dirty="0"/>
              <a:t>•  </a:t>
            </a:r>
            <a:r>
              <a:rPr dirty="0" err="1"/>
              <a:t>T_chamber</a:t>
            </a:r>
            <a:r>
              <a:rPr dirty="0"/>
              <a:t> holds 45 °C (different path, same outcome)</a:t>
            </a:r>
          </a:p>
          <a:p>
            <a:pPr>
              <a:lnSpc>
                <a:spcPct val="120000"/>
              </a:lnSpc>
              <a:defRPr sz="1100">
                <a:solidFill>
                  <a:srgbClr val="222222"/>
                </a:solidFill>
              </a:defRPr>
            </a:pPr>
            <a:r>
              <a:rPr dirty="0"/>
              <a:t>•  HP turns OFF entirely around solar noon</a:t>
            </a:r>
          </a:p>
          <a:p>
            <a:pPr>
              <a:lnSpc>
                <a:spcPct val="120000"/>
              </a:lnSpc>
              <a:defRPr sz="1100">
                <a:solidFill>
                  <a:srgbClr val="222222"/>
                </a:solidFill>
              </a:defRPr>
            </a:pPr>
            <a:r>
              <a:rPr dirty="0"/>
              <a:t>•  SEC = 0.133 kWh/kg</a:t>
            </a:r>
          </a:p>
          <a:p>
            <a:pPr>
              <a:lnSpc>
                <a:spcPct val="120000"/>
              </a:lnSpc>
              <a:defRPr sz="1100">
                <a:solidFill>
                  <a:srgbClr val="222222"/>
                </a:solidFill>
              </a:defRPr>
            </a:pPr>
            <a:r>
              <a:rPr dirty="0"/>
              <a:t>•  Mean COP = 6.53 (higher than E2)</a:t>
            </a:r>
          </a:p>
          <a:p>
            <a:pPr>
              <a:lnSpc>
                <a:spcPct val="120000"/>
              </a:lnSpc>
              <a:defRPr sz="1100">
                <a:solidFill>
                  <a:srgbClr val="222222"/>
                </a:solidFill>
              </a:defRPr>
            </a:pPr>
            <a:r>
              <a:rPr dirty="0"/>
              <a:t>•  No clipping: 100 % of collected solar reaches the chamber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8B002F1E-E16E-4620-AEC3-C2B1BEA414E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0185" y="1198132"/>
            <a:ext cx="5699964" cy="4718037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9333CB43-B3D6-40C6-ADB7-8CBA9395ECB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78677" y="3853812"/>
            <a:ext cx="4303598" cy="2096836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11480" y="201168"/>
            <a:ext cx="11338560" cy="502920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pPr>
              <a:defRPr sz="2600" b="1">
                <a:solidFill>
                  <a:srgbClr val="1F3A5F"/>
                </a:solidFill>
              </a:defRPr>
            </a:pPr>
            <a:r>
              <a:t>Side-by-side: what each config actually does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749808"/>
            <a:ext cx="11338560" cy="320040"/>
          </a:xfrm>
          <a:prstGeom prst="rect">
            <a:avLst/>
          </a:prstGeom>
          <a:noFill/>
        </p:spPr>
        <p:txBody>
          <a:bodyPr wrap="none" tIns="0">
            <a:spAutoFit/>
          </a:bodyPr>
          <a:lstStyle/>
          <a:p>
            <a:pPr>
              <a:defRPr sz="1300" i="1">
                <a:solidFill>
                  <a:srgbClr val="555555"/>
                </a:solidFill>
              </a:defRPr>
            </a:pPr>
            <a:r>
              <a:t>Autumn KTM, 10 m², r = 0, identical weather, identical drying time (16.9 h)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11480" y="1115568"/>
            <a:ext cx="11365992" cy="0"/>
          </a:xfrm>
          <a:prstGeom prst="line">
            <a:avLst/>
          </a:prstGeom>
          <a:ln w="1270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411480" y="3964649"/>
            <a:ext cx="1417320" cy="2148840"/>
          </a:xfrm>
          <a:prstGeom prst="roundRect">
            <a:avLst/>
          </a:prstGeom>
          <a:solidFill>
            <a:srgbClr val="EEEEEE"/>
          </a:solidFill>
          <a:ln w="15240">
            <a:solidFill>
              <a:srgbClr val="2E86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84632" y="4019513"/>
            <a:ext cx="1280160" cy="274320"/>
          </a:xfrm>
          <a:prstGeom prst="rect">
            <a:avLst/>
          </a:prstGeom>
          <a:noFill/>
        </p:spPr>
        <p:txBody>
          <a:bodyPr wrap="square" tIns="25400" bIns="25400">
            <a:spAutoFit/>
          </a:bodyPr>
          <a:lstStyle/>
          <a:p>
            <a:pPr>
              <a:defRPr sz="1100" b="1" i="0">
                <a:solidFill>
                  <a:srgbClr val="2E86AB"/>
                </a:solidFill>
              </a:defRPr>
            </a:pPr>
            <a:r>
              <a:t>E2 solar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4632" y="4330409"/>
            <a:ext cx="1280160" cy="274320"/>
          </a:xfrm>
          <a:prstGeom prst="rect">
            <a:avLst/>
          </a:prstGeom>
          <a:noFill/>
        </p:spPr>
        <p:txBody>
          <a:bodyPr wrap="square" tIns="25400" bIns="25400">
            <a:spAutoFit/>
          </a:bodyPr>
          <a:lstStyle/>
          <a:p>
            <a:pPr>
              <a:defRPr sz="1000" b="1" i="0">
                <a:solidFill>
                  <a:srgbClr val="222222"/>
                </a:solidFill>
              </a:defRPr>
            </a:pPr>
            <a:r>
              <a:t>Cooler inlet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4632" y="4623017"/>
            <a:ext cx="1280160" cy="274320"/>
          </a:xfrm>
          <a:prstGeom prst="rect">
            <a:avLst/>
          </a:prstGeom>
          <a:noFill/>
        </p:spPr>
        <p:txBody>
          <a:bodyPr wrap="square" tIns="25400" bIns="25400">
            <a:spAutoFit/>
          </a:bodyPr>
          <a:lstStyle/>
          <a:p>
            <a:pPr>
              <a:defRPr sz="900" b="0" i="0">
                <a:solidFill>
                  <a:srgbClr val="222222"/>
                </a:solidFill>
              </a:defRPr>
            </a:pPr>
            <a:r>
              <a:t>~32 °C (HRX only)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4632" y="4879049"/>
            <a:ext cx="1280160" cy="274320"/>
          </a:xfrm>
          <a:prstGeom prst="rect">
            <a:avLst/>
          </a:prstGeom>
          <a:noFill/>
        </p:spPr>
        <p:txBody>
          <a:bodyPr wrap="square" tIns="25400" bIns="25400">
            <a:spAutoFit/>
          </a:bodyPr>
          <a:lstStyle/>
          <a:p>
            <a:pPr>
              <a:defRPr sz="1000" b="1" i="0">
                <a:solidFill>
                  <a:srgbClr val="222222"/>
                </a:solidFill>
              </a:defRPr>
            </a:pPr>
            <a:r>
              <a:rPr dirty="0"/>
              <a:t>Collected 20.95 kWh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4632" y="5171657"/>
            <a:ext cx="1280160" cy="274320"/>
          </a:xfrm>
          <a:prstGeom prst="rect">
            <a:avLst/>
          </a:prstGeom>
          <a:noFill/>
        </p:spPr>
        <p:txBody>
          <a:bodyPr wrap="square" tIns="25400" bIns="25400">
            <a:spAutoFit/>
          </a:bodyPr>
          <a:lstStyle/>
          <a:p>
            <a:pPr>
              <a:defRPr sz="900" b="0" i="0">
                <a:solidFill>
                  <a:srgbClr val="222222"/>
                </a:solidFill>
              </a:defRPr>
            </a:pPr>
            <a:r>
              <a:t>Clipped 9.38 kWh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84632" y="5427689"/>
            <a:ext cx="1280160" cy="274320"/>
          </a:xfrm>
          <a:prstGeom prst="rect">
            <a:avLst/>
          </a:prstGeom>
          <a:noFill/>
        </p:spPr>
        <p:txBody>
          <a:bodyPr wrap="square" tIns="25400" bIns="25400">
            <a:spAutoFit/>
          </a:bodyPr>
          <a:lstStyle/>
          <a:p>
            <a:pPr>
              <a:defRPr sz="1000" b="1" i="0">
                <a:solidFill>
                  <a:srgbClr val="222222"/>
                </a:solidFill>
              </a:defRPr>
            </a:pPr>
            <a:r>
              <a:rPr dirty="0"/>
              <a:t>Usable 11.57 kWh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0515600" y="1417320"/>
            <a:ext cx="1417320" cy="2148840"/>
          </a:xfrm>
          <a:prstGeom prst="roundRect">
            <a:avLst/>
          </a:prstGeom>
          <a:solidFill>
            <a:srgbClr val="EEEEEE"/>
          </a:solidFill>
          <a:ln w="15240">
            <a:solidFill>
              <a:srgbClr val="E56B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10588752" y="1472184"/>
            <a:ext cx="1280160" cy="274320"/>
          </a:xfrm>
          <a:prstGeom prst="rect">
            <a:avLst/>
          </a:prstGeom>
          <a:noFill/>
        </p:spPr>
        <p:txBody>
          <a:bodyPr wrap="square" tIns="25400" bIns="25400">
            <a:spAutoFit/>
          </a:bodyPr>
          <a:lstStyle/>
          <a:p>
            <a:pPr>
              <a:defRPr sz="1100" b="1" i="0">
                <a:solidFill>
                  <a:srgbClr val="E56B4A"/>
                </a:solidFill>
              </a:defRPr>
            </a:pPr>
            <a:r>
              <a:t>E3 solar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588752" y="1783080"/>
            <a:ext cx="1280160" cy="274320"/>
          </a:xfrm>
          <a:prstGeom prst="rect">
            <a:avLst/>
          </a:prstGeom>
          <a:noFill/>
        </p:spPr>
        <p:txBody>
          <a:bodyPr wrap="square" tIns="25400" bIns="25400">
            <a:spAutoFit/>
          </a:bodyPr>
          <a:lstStyle/>
          <a:p>
            <a:pPr>
              <a:defRPr sz="1000" b="1" i="0">
                <a:solidFill>
                  <a:srgbClr val="222222"/>
                </a:solidFill>
              </a:defRPr>
            </a:pPr>
            <a:r>
              <a:t>Hotter inlet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588752" y="2075688"/>
            <a:ext cx="1280160" cy="274320"/>
          </a:xfrm>
          <a:prstGeom prst="rect">
            <a:avLst/>
          </a:prstGeom>
          <a:noFill/>
        </p:spPr>
        <p:txBody>
          <a:bodyPr wrap="square" tIns="25400" bIns="25400">
            <a:spAutoFit/>
          </a:bodyPr>
          <a:lstStyle/>
          <a:p>
            <a:pPr>
              <a:defRPr sz="900" b="0" i="0">
                <a:solidFill>
                  <a:srgbClr val="222222"/>
                </a:solidFill>
              </a:defRPr>
            </a:pPr>
            <a:r>
              <a:t>~37 °C (HRX + Cond)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588752" y="2331720"/>
            <a:ext cx="1280160" cy="274320"/>
          </a:xfrm>
          <a:prstGeom prst="rect">
            <a:avLst/>
          </a:prstGeom>
          <a:noFill/>
        </p:spPr>
        <p:txBody>
          <a:bodyPr wrap="square" tIns="25400" bIns="25400">
            <a:spAutoFit/>
          </a:bodyPr>
          <a:lstStyle/>
          <a:p>
            <a:pPr>
              <a:defRPr sz="1000" b="1" i="0">
                <a:solidFill>
                  <a:srgbClr val="222222"/>
                </a:solidFill>
              </a:defRPr>
            </a:pPr>
            <a:r>
              <a:rPr dirty="0"/>
              <a:t>Collected 19.77 kWh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588752" y="2624328"/>
            <a:ext cx="1280160" cy="274320"/>
          </a:xfrm>
          <a:prstGeom prst="rect">
            <a:avLst/>
          </a:prstGeom>
          <a:noFill/>
        </p:spPr>
        <p:txBody>
          <a:bodyPr wrap="square" tIns="25400" bIns="25400">
            <a:spAutoFit/>
          </a:bodyPr>
          <a:lstStyle/>
          <a:p>
            <a:pPr>
              <a:defRPr sz="900" b="0" i="0">
                <a:solidFill>
                  <a:srgbClr val="222222"/>
                </a:solidFill>
              </a:defRPr>
            </a:pPr>
            <a:r>
              <a:t>No clipping (design)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588752" y="2880360"/>
            <a:ext cx="1280160" cy="274320"/>
          </a:xfrm>
          <a:prstGeom prst="rect">
            <a:avLst/>
          </a:prstGeom>
          <a:noFill/>
        </p:spPr>
        <p:txBody>
          <a:bodyPr wrap="square" tIns="25400" bIns="25400">
            <a:spAutoFit/>
          </a:bodyPr>
          <a:lstStyle/>
          <a:p>
            <a:pPr>
              <a:defRPr sz="1000" b="1" i="0">
                <a:solidFill>
                  <a:srgbClr val="222222"/>
                </a:solidFill>
              </a:defRPr>
            </a:pPr>
            <a:r>
              <a:t>Usable 19.77 kWh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274320" y="6172200"/>
            <a:ext cx="11612880" cy="548640"/>
          </a:xfrm>
          <a:prstGeom prst="round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411480" y="6217920"/>
            <a:ext cx="11338560" cy="457200"/>
          </a:xfrm>
          <a:prstGeom prst="rect">
            <a:avLst/>
          </a:prstGeom>
          <a:noFill/>
        </p:spPr>
        <p:txBody>
          <a:bodyPr wrap="square" tIns="25400" bIns="25400">
            <a:spAutoFit/>
          </a:bodyPr>
          <a:lstStyle/>
          <a:p>
            <a:pPr algn="ctr">
              <a:defRPr sz="1200" b="1" i="0">
                <a:solidFill>
                  <a:srgbClr val="FFFFFF"/>
                </a:solidFill>
              </a:defRPr>
            </a:pPr>
            <a:r>
              <a:rPr dirty="0"/>
              <a:t>The paradox: E3 has higher COP + no clipping + more usable solar, yet E2 uses less total </a:t>
            </a:r>
            <a:r>
              <a:rPr dirty="0" err="1"/>
              <a:t>W_comp</a:t>
            </a:r>
            <a:r>
              <a:rPr dirty="0"/>
              <a:t> (1.96 &lt; 2.16 kWh). E2's cooler collector wins across every HP-ON hour, not just midday.</a:t>
            </a:r>
          </a:p>
        </p:txBody>
      </p:sp>
      <p:pic>
        <p:nvPicPr>
          <p:cNvPr id="44" name="Picture 43" descr="Ac_10m2_hrx0.70_solar.png">
            <a:extLst>
              <a:ext uri="{FF2B5EF4-FFF2-40B4-BE49-F238E27FC236}">
                <a16:creationId xmlns:a16="http://schemas.microsoft.com/office/drawing/2014/main" id="{669E372F-855C-429E-B15F-7DB4A77CF1F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4632" y="1170764"/>
            <a:ext cx="5618924" cy="2682127"/>
          </a:xfrm>
          <a:prstGeom prst="rect">
            <a:avLst/>
          </a:prstGeom>
        </p:spPr>
      </p:pic>
      <p:pic>
        <p:nvPicPr>
          <p:cNvPr id="45" name="Picture 44" descr="Ac_10m2_hrx0.70_solar.png">
            <a:extLst>
              <a:ext uri="{FF2B5EF4-FFF2-40B4-BE49-F238E27FC236}">
                <a16:creationId xmlns:a16="http://schemas.microsoft.com/office/drawing/2014/main" id="{AB505B2B-52F4-4DFA-99DD-3DEEA945691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4412" y="3602736"/>
            <a:ext cx="5842433" cy="2496312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11480" y="201168"/>
            <a:ext cx="11338560" cy="502920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pPr>
              <a:defRPr sz="2600" b="1">
                <a:solidFill>
                  <a:srgbClr val="1F3A5F"/>
                </a:solidFill>
              </a:defRPr>
            </a:pPr>
            <a:r>
              <a:t>The punchline: why E2 beats E3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749808"/>
            <a:ext cx="11338560" cy="320040"/>
          </a:xfrm>
          <a:prstGeom prst="rect">
            <a:avLst/>
          </a:prstGeom>
          <a:noFill/>
        </p:spPr>
        <p:txBody>
          <a:bodyPr wrap="none" tIns="0">
            <a:spAutoFit/>
          </a:bodyPr>
          <a:lstStyle/>
          <a:p>
            <a:pPr>
              <a:defRPr sz="1300" i="1">
                <a:solidFill>
                  <a:srgbClr val="555555"/>
                </a:solidFill>
              </a:defRPr>
            </a:pPr>
            <a:r>
              <a:t>Collector inlet temperature is everything (Hottel-Whillier-Bliss)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11480" y="1115568"/>
            <a:ext cx="11365992" cy="0"/>
          </a:xfrm>
          <a:prstGeom prst="line">
            <a:avLst/>
          </a:prstGeom>
          <a:ln w="1270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ectangle 4"/>
          <p:cNvSpPr/>
          <p:nvPr/>
        </p:nvSpPr>
        <p:spPr>
          <a:xfrm>
            <a:off x="640080" y="1463040"/>
            <a:ext cx="2743200" cy="438912"/>
          </a:xfrm>
          <a:prstGeom prst="rect">
            <a:avLst/>
          </a:prstGeom>
          <a:solidFill>
            <a:srgbClr val="1F3A5F"/>
          </a:solidFill>
          <a:ln w="6350">
            <a:solidFill>
              <a:srgbClr val="555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6200" tIns="38100" bIns="38100"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3383280" y="1463040"/>
            <a:ext cx="2011680" cy="438912"/>
          </a:xfrm>
          <a:prstGeom prst="rect">
            <a:avLst/>
          </a:prstGeom>
          <a:solidFill>
            <a:srgbClr val="1F3A5F"/>
          </a:solidFill>
          <a:ln w="6350">
            <a:solidFill>
              <a:srgbClr val="555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6200" tIns="38100" bIns="38100"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E2</a:t>
            </a:r>
          </a:p>
        </p:txBody>
      </p:sp>
      <p:sp>
        <p:nvSpPr>
          <p:cNvPr id="7" name="Rectangle 6"/>
          <p:cNvSpPr/>
          <p:nvPr/>
        </p:nvSpPr>
        <p:spPr>
          <a:xfrm>
            <a:off x="5394960" y="1463040"/>
            <a:ext cx="2011680" cy="438912"/>
          </a:xfrm>
          <a:prstGeom prst="rect">
            <a:avLst/>
          </a:prstGeom>
          <a:solidFill>
            <a:srgbClr val="1F3A5F"/>
          </a:solidFill>
          <a:ln w="6350">
            <a:solidFill>
              <a:srgbClr val="555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6200" tIns="38100" bIns="38100"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E3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1901952"/>
            <a:ext cx="2743200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555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6200" tIns="38100" bIns="38100" rtlCol="0" anchor="ctr"/>
          <a:lstStyle/>
          <a:p>
            <a:pPr algn="ctr">
              <a:defRPr sz="1300" b="1">
                <a:solidFill>
                  <a:srgbClr val="222222"/>
                </a:solidFill>
              </a:defRPr>
            </a:pPr>
            <a:r>
              <a:t>SEC (kWh/kg)</a:t>
            </a:r>
          </a:p>
        </p:txBody>
      </p:sp>
      <p:sp>
        <p:nvSpPr>
          <p:cNvPr id="9" name="Rectangle 8"/>
          <p:cNvSpPr/>
          <p:nvPr/>
        </p:nvSpPr>
        <p:spPr>
          <a:xfrm>
            <a:off x="3383280" y="1901952"/>
            <a:ext cx="2011680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555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6200" tIns="38100" bIns="38100" rtlCol="0" anchor="ctr"/>
          <a:lstStyle/>
          <a:p>
            <a:pPr algn="ctr">
              <a:defRPr sz="1300" b="0">
                <a:solidFill>
                  <a:srgbClr val="222222"/>
                </a:solidFill>
              </a:defRPr>
            </a:pPr>
            <a:r>
              <a:t>0.123</a:t>
            </a:r>
          </a:p>
        </p:txBody>
      </p:sp>
      <p:sp>
        <p:nvSpPr>
          <p:cNvPr id="10" name="Rectangle 9"/>
          <p:cNvSpPr/>
          <p:nvPr/>
        </p:nvSpPr>
        <p:spPr>
          <a:xfrm>
            <a:off x="5394960" y="1901952"/>
            <a:ext cx="2011680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555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6200" tIns="38100" bIns="38100" rtlCol="0" anchor="ctr"/>
          <a:lstStyle/>
          <a:p>
            <a:pPr algn="ctr">
              <a:defRPr sz="1300" b="0">
                <a:solidFill>
                  <a:srgbClr val="222222"/>
                </a:solidFill>
              </a:defRPr>
            </a:pPr>
            <a:r>
              <a:t>0.133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2340864"/>
            <a:ext cx="2743200" cy="438912"/>
          </a:xfrm>
          <a:prstGeom prst="rect">
            <a:avLst/>
          </a:prstGeom>
          <a:solidFill>
            <a:srgbClr val="EEEEEE"/>
          </a:solidFill>
          <a:ln w="6350">
            <a:solidFill>
              <a:srgbClr val="555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6200" tIns="38100" bIns="38100" rtlCol="0" anchor="ctr"/>
          <a:lstStyle/>
          <a:p>
            <a:pPr algn="ctr">
              <a:defRPr sz="1300" b="1">
                <a:solidFill>
                  <a:srgbClr val="222222"/>
                </a:solidFill>
              </a:defRPr>
            </a:pPr>
            <a:r>
              <a:t>Mean COP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383280" y="2340864"/>
            <a:ext cx="2011680" cy="438912"/>
          </a:xfrm>
          <a:prstGeom prst="rect">
            <a:avLst/>
          </a:prstGeom>
          <a:solidFill>
            <a:srgbClr val="EEEEEE"/>
          </a:solidFill>
          <a:ln w="6350">
            <a:solidFill>
              <a:srgbClr val="555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6200" tIns="38100" bIns="38100" rtlCol="0" anchor="ctr"/>
          <a:lstStyle/>
          <a:p>
            <a:pPr algn="ctr">
              <a:defRPr sz="1300" b="0">
                <a:solidFill>
                  <a:srgbClr val="222222"/>
                </a:solidFill>
              </a:defRPr>
            </a:pPr>
            <a:r>
              <a:t>5.25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394960" y="2340864"/>
            <a:ext cx="2011680" cy="438912"/>
          </a:xfrm>
          <a:prstGeom prst="rect">
            <a:avLst/>
          </a:prstGeom>
          <a:solidFill>
            <a:srgbClr val="EEEEEE"/>
          </a:solidFill>
          <a:ln w="6350">
            <a:solidFill>
              <a:srgbClr val="555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6200" tIns="38100" bIns="38100" rtlCol="0" anchor="ctr"/>
          <a:lstStyle/>
          <a:p>
            <a:pPr algn="ctr">
              <a:defRPr sz="1300" b="0">
                <a:solidFill>
                  <a:srgbClr val="222222"/>
                </a:solidFill>
              </a:defRPr>
            </a:pPr>
            <a:r>
              <a:t>6.53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" y="2779776"/>
            <a:ext cx="2743200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555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6200" tIns="38100" bIns="38100" rtlCol="0" anchor="ctr"/>
          <a:lstStyle/>
          <a:p>
            <a:pPr algn="ctr">
              <a:defRPr sz="1300" b="1">
                <a:solidFill>
                  <a:srgbClr val="222222"/>
                </a:solidFill>
              </a:defRPr>
            </a:pPr>
            <a:r>
              <a:t>Solar collected (kWh)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383280" y="2779776"/>
            <a:ext cx="2011680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555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6200" tIns="38100" bIns="38100" rtlCol="0" anchor="ctr"/>
          <a:lstStyle/>
          <a:p>
            <a:pPr algn="ctr">
              <a:defRPr sz="1300" b="0">
                <a:solidFill>
                  <a:srgbClr val="222222"/>
                </a:solidFill>
              </a:defRPr>
            </a:pPr>
            <a:r>
              <a:t>20.95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394960" y="2779776"/>
            <a:ext cx="2011680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555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6200" tIns="38100" bIns="38100" rtlCol="0" anchor="ctr"/>
          <a:lstStyle/>
          <a:p>
            <a:pPr algn="ctr">
              <a:defRPr sz="1300" b="0">
                <a:solidFill>
                  <a:srgbClr val="222222"/>
                </a:solidFill>
              </a:defRPr>
            </a:pPr>
            <a:r>
              <a:t>19.77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0080" y="3218688"/>
            <a:ext cx="2743200" cy="438912"/>
          </a:xfrm>
          <a:prstGeom prst="rect">
            <a:avLst/>
          </a:prstGeom>
          <a:solidFill>
            <a:srgbClr val="EEEEEE"/>
          </a:solidFill>
          <a:ln w="6350">
            <a:solidFill>
              <a:srgbClr val="555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6200" tIns="38100" bIns="38100" rtlCol="0" anchor="ctr"/>
          <a:lstStyle/>
          <a:p>
            <a:pPr algn="ctr">
              <a:defRPr sz="1300" b="1">
                <a:solidFill>
                  <a:srgbClr val="222222"/>
                </a:solidFill>
              </a:defRPr>
            </a:pPr>
            <a:r>
              <a:t>Solar usable (kWh)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383280" y="3218688"/>
            <a:ext cx="2011680" cy="438912"/>
          </a:xfrm>
          <a:prstGeom prst="rect">
            <a:avLst/>
          </a:prstGeom>
          <a:solidFill>
            <a:srgbClr val="EEEEEE"/>
          </a:solidFill>
          <a:ln w="6350">
            <a:solidFill>
              <a:srgbClr val="555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6200" tIns="38100" bIns="38100" rtlCol="0" anchor="ctr"/>
          <a:lstStyle/>
          <a:p>
            <a:pPr algn="ctr">
              <a:defRPr sz="1300" b="0">
                <a:solidFill>
                  <a:srgbClr val="222222"/>
                </a:solidFill>
              </a:defRPr>
            </a:pPr>
            <a:r>
              <a:t>11.57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394960" y="3218688"/>
            <a:ext cx="2011680" cy="438912"/>
          </a:xfrm>
          <a:prstGeom prst="rect">
            <a:avLst/>
          </a:prstGeom>
          <a:solidFill>
            <a:srgbClr val="EEEEEE"/>
          </a:solidFill>
          <a:ln w="6350">
            <a:solidFill>
              <a:srgbClr val="555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6200" tIns="38100" bIns="38100" rtlCol="0" anchor="ctr"/>
          <a:lstStyle/>
          <a:p>
            <a:pPr algn="ctr">
              <a:defRPr sz="1300" b="0">
                <a:solidFill>
                  <a:srgbClr val="222222"/>
                </a:solidFill>
              </a:defRPr>
            </a:pPr>
            <a:r>
              <a:t>19.77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40080" y="3657600"/>
            <a:ext cx="2743200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555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6200" tIns="38100" bIns="38100" rtlCol="0" anchor="ctr"/>
          <a:lstStyle/>
          <a:p>
            <a:pPr algn="ctr">
              <a:defRPr sz="1300" b="1">
                <a:solidFill>
                  <a:srgbClr val="222222"/>
                </a:solidFill>
              </a:defRPr>
            </a:pPr>
            <a:r>
              <a:t>Clipping waste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383280" y="3657600"/>
            <a:ext cx="2011680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555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6200" tIns="38100" bIns="38100" rtlCol="0" anchor="ctr"/>
          <a:lstStyle/>
          <a:p>
            <a:pPr algn="ctr">
              <a:defRPr sz="1300" b="0">
                <a:solidFill>
                  <a:srgbClr val="222222"/>
                </a:solidFill>
              </a:defRPr>
            </a:pPr>
            <a:r>
              <a:t>44.8 %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394960" y="3657600"/>
            <a:ext cx="2011680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555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6200" tIns="38100" bIns="38100" rtlCol="0" anchor="ctr"/>
          <a:lstStyle/>
          <a:p>
            <a:pPr algn="ctr">
              <a:defRPr sz="1300" b="0">
                <a:solidFill>
                  <a:srgbClr val="222222"/>
                </a:solidFill>
              </a:defRPr>
            </a:pPr>
            <a:r>
              <a:t>0 %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" y="4572000"/>
            <a:ext cx="6675120" cy="365760"/>
          </a:xfrm>
          <a:prstGeom prst="rect">
            <a:avLst/>
          </a:prstGeom>
          <a:noFill/>
        </p:spPr>
        <p:txBody>
          <a:bodyPr wrap="square" tIns="25400" bIns="25400">
            <a:spAutoFit/>
          </a:bodyPr>
          <a:lstStyle/>
          <a:p>
            <a:pPr>
              <a:defRPr sz="1000" b="0" i="1">
                <a:solidFill>
                  <a:srgbClr val="555555"/>
                </a:solidFill>
              </a:defRPr>
            </a:pPr>
            <a:r>
              <a:t>Autumn Kathmandu, 10 m² collector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589520" y="1463040"/>
            <a:ext cx="4297680" cy="4937760"/>
          </a:xfrm>
          <a:prstGeom prst="roundRect">
            <a:avLst/>
          </a:prstGeom>
          <a:solidFill>
            <a:srgbClr val="EEEEEE"/>
          </a:solidFill>
          <a:ln w="15240">
            <a:solidFill>
              <a:srgbClr val="1F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7818120" y="1682496"/>
            <a:ext cx="4114800" cy="365760"/>
          </a:xfrm>
          <a:prstGeom prst="rect">
            <a:avLst/>
          </a:prstGeom>
          <a:noFill/>
        </p:spPr>
        <p:txBody>
          <a:bodyPr wrap="square" tIns="25400" bIns="25400">
            <a:spAutoFit/>
          </a:bodyPr>
          <a:lstStyle/>
          <a:p>
            <a:pPr>
              <a:defRPr sz="1400" b="1" i="0">
                <a:solidFill>
                  <a:srgbClr val="1F3A5F"/>
                </a:solidFill>
              </a:defRPr>
            </a:pPr>
            <a:r>
              <a:rPr dirty="0"/>
              <a:t>The physics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726680" y="2029967"/>
            <a:ext cx="4114800" cy="365760"/>
          </a:xfrm>
          <a:prstGeom prst="rect">
            <a:avLst/>
          </a:prstGeom>
          <a:noFill/>
        </p:spPr>
        <p:txBody>
          <a:bodyPr wrap="square" tIns="25400" bIns="25400">
            <a:spAutoFit/>
          </a:bodyPr>
          <a:lstStyle/>
          <a:p>
            <a:pPr>
              <a:defRPr sz="1200" b="1" i="0">
                <a:solidFill>
                  <a:srgbClr val="222222"/>
                </a:solidFill>
              </a:defRPr>
            </a:pPr>
            <a:r>
              <a:rPr dirty="0" err="1"/>
              <a:t>Hottel</a:t>
            </a:r>
            <a:r>
              <a:rPr dirty="0"/>
              <a:t>-</a:t>
            </a:r>
            <a:r>
              <a:rPr dirty="0" err="1"/>
              <a:t>Whillier</a:t>
            </a:r>
            <a:r>
              <a:rPr dirty="0"/>
              <a:t>-Bliss: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680960" y="2331720"/>
            <a:ext cx="4114800" cy="457200"/>
          </a:xfrm>
          <a:prstGeom prst="rect">
            <a:avLst/>
          </a:prstGeom>
          <a:noFill/>
        </p:spPr>
        <p:txBody>
          <a:bodyPr wrap="square" tIns="25400" bIns="25400">
            <a:spAutoFit/>
          </a:bodyPr>
          <a:lstStyle/>
          <a:p>
            <a:pPr>
              <a:defRPr sz="1300" b="1" i="0">
                <a:solidFill>
                  <a:srgbClr val="E56B4A"/>
                </a:solidFill>
              </a:defRPr>
            </a:pPr>
            <a:r>
              <a:t>η_c = F_R(τα) − F_R U_L (T_in − T_amb) / G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680960" y="2926080"/>
            <a:ext cx="4114800" cy="3474720"/>
          </a:xfrm>
          <a:prstGeom prst="rect">
            <a:avLst/>
          </a:prstGeom>
          <a:noFill/>
        </p:spPr>
        <p:txBody>
          <a:bodyPr wrap="square" tIns="25400" bIns="25400">
            <a:spAutoFit/>
          </a:bodyPr>
          <a:lstStyle/>
          <a:p>
            <a:pPr>
              <a:defRPr sz="1100" b="0" i="0">
                <a:solidFill>
                  <a:srgbClr val="222222"/>
                </a:solidFill>
              </a:defRPr>
            </a:pPr>
            <a:r>
              <a:t>In E2 the collector sees air at ~32 °C (HRX output, mid-drying).</a:t>
            </a:r>
          </a:p>
          <a:p>
            <a:pPr>
              <a:defRPr sz="1100" b="0" i="0">
                <a:solidFill>
                  <a:srgbClr val="222222"/>
                </a:solidFill>
              </a:defRPr>
            </a:pPr>
            <a:endParaRPr/>
          </a:p>
          <a:p>
            <a:pPr>
              <a:defRPr sz="1100" b="0" i="0">
                <a:solidFill>
                  <a:srgbClr val="222222"/>
                </a:solidFill>
              </a:defRPr>
            </a:pPr>
            <a:r>
              <a:t>In E3 the collector sees air at ~37 °C (HRX + condenser output).</a:t>
            </a:r>
          </a:p>
          <a:p>
            <a:pPr>
              <a:defRPr sz="1100" b="0" i="0">
                <a:solidFill>
                  <a:srgbClr val="222222"/>
                </a:solidFill>
              </a:defRPr>
            </a:pPr>
            <a:endParaRPr/>
          </a:p>
          <a:p>
            <a:pPr>
              <a:defRPr sz="1100" b="0" i="0">
                <a:solidFill>
                  <a:srgbClr val="222222"/>
                </a:solidFill>
              </a:defRPr>
            </a:pPr>
            <a:r>
              <a:t>That 5 °C hotter inlet costs roughly 2.5 percentage points of energy-weighted efficiency.</a:t>
            </a:r>
          </a:p>
          <a:p>
            <a:pPr>
              <a:defRPr sz="1100" b="0" i="0">
                <a:solidFill>
                  <a:srgbClr val="222222"/>
                </a:solidFill>
              </a:defRPr>
            </a:pPr>
            <a:endParaRPr/>
          </a:p>
          <a:p>
            <a:pPr>
              <a:defRPr sz="1100" b="0" i="0">
                <a:solidFill>
                  <a:srgbClr val="222222"/>
                </a:solidFill>
              </a:defRPr>
            </a:pPr>
            <a:r>
              <a:t>E2 captures +1.2 kWh extra solar per day; E3's lower compressor work saves only ~1.0 kWh thermal. E2 nets +0.2 kWh/day.</a:t>
            </a:r>
          </a:p>
          <a:p>
            <a:pPr>
              <a:defRPr sz="1100" b="0" i="0">
                <a:solidFill>
                  <a:srgbClr val="222222"/>
                </a:solidFill>
              </a:defRPr>
            </a:pPr>
            <a:endParaRPr/>
          </a:p>
          <a:p>
            <a:pPr>
              <a:defRPr sz="1100" b="0" i="0">
                <a:solidFill>
                  <a:srgbClr val="222222"/>
                </a:solidFill>
              </a:defRPr>
            </a:pPr>
            <a:r>
              <a:t>Keep the solar upstream of the condenser.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11480" y="201168"/>
            <a:ext cx="11338560" cy="502920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pPr>
              <a:defRPr sz="2600" b="1">
                <a:solidFill>
                  <a:srgbClr val="1F3A5F"/>
                </a:solidFill>
              </a:defRPr>
            </a:pPr>
            <a:r>
              <a:t>Area sweep: SEC keeps dropping even as clipping rises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749808"/>
            <a:ext cx="11338560" cy="320040"/>
          </a:xfrm>
          <a:prstGeom prst="rect">
            <a:avLst/>
          </a:prstGeom>
          <a:noFill/>
        </p:spPr>
        <p:txBody>
          <a:bodyPr wrap="none" tIns="0">
            <a:spAutoFit/>
          </a:bodyPr>
          <a:lstStyle/>
          <a:p>
            <a:pPr>
              <a:defRPr sz="1300" i="1">
                <a:solidFill>
                  <a:srgbClr val="555555"/>
                </a:solidFill>
              </a:defRPr>
            </a:pPr>
            <a:r>
              <a:t>Shrinking the collector to avoid clipping makes things worse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11480" y="1115568"/>
            <a:ext cx="11365992" cy="0"/>
          </a:xfrm>
          <a:prstGeom prst="line">
            <a:avLst/>
          </a:prstGeom>
          <a:ln w="1270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5" name="Picture 4" descr="area_swee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394461"/>
            <a:ext cx="11247120" cy="443483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11480" y="6108192"/>
            <a:ext cx="11247120" cy="640080"/>
          </a:xfrm>
          <a:prstGeom prst="rect">
            <a:avLst/>
          </a:prstGeom>
          <a:noFill/>
        </p:spPr>
        <p:txBody>
          <a:bodyPr wrap="square" tIns="25400" bIns="25400">
            <a:spAutoFit/>
          </a:bodyPr>
          <a:lstStyle/>
          <a:p>
            <a:pPr>
              <a:defRPr sz="1300" b="0" i="1">
                <a:solidFill>
                  <a:srgbClr val="222222"/>
                </a:solidFill>
              </a:defRPr>
            </a:pPr>
            <a:r>
              <a:rPr dirty="0"/>
              <a:t>Extra area always buys extra useful solar. The HP duty cycle drops faster than clipping waste grows. Right fix: keep area, add storage, not shrink area.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11480" y="201168"/>
            <a:ext cx="11338560" cy="502920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pPr>
              <a:defRPr sz="2600" b="1">
                <a:solidFill>
                  <a:srgbClr val="1F3A5F"/>
                </a:solidFill>
              </a:defRPr>
            </a:pPr>
            <a:r>
              <a:t>Seasonal performance across two climates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749808"/>
            <a:ext cx="11338560" cy="320040"/>
          </a:xfrm>
          <a:prstGeom prst="rect">
            <a:avLst/>
          </a:prstGeom>
          <a:noFill/>
        </p:spPr>
        <p:txBody>
          <a:bodyPr wrap="none" tIns="0">
            <a:spAutoFit/>
          </a:bodyPr>
          <a:lstStyle/>
          <a:p>
            <a:pPr>
              <a:defRPr sz="1300" i="1">
                <a:solidFill>
                  <a:srgbClr val="555555"/>
                </a:solidFill>
              </a:defRPr>
            </a:pPr>
            <a:r>
              <a:t>E2 beats E3 in every season, at both locations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11480" y="1115568"/>
            <a:ext cx="11365992" cy="0"/>
          </a:xfrm>
          <a:prstGeom prst="line">
            <a:avLst/>
          </a:prstGeom>
          <a:ln w="1270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5" name="Picture 4" descr="season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1280160"/>
            <a:ext cx="8686800" cy="3805115"/>
          </a:xfrm>
          <a:prstGeom prst="rect">
            <a:avLst/>
          </a:prstGeom>
        </p:spPr>
      </p:pic>
      <p:pic>
        <p:nvPicPr>
          <p:cNvPr id="6" name="Picture 5" descr="clima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52560" y="1280160"/>
            <a:ext cx="3017520" cy="1940957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274320" y="5760720"/>
            <a:ext cx="11704320" cy="731520"/>
          </a:xfrm>
          <a:prstGeom prst="rect">
            <a:avLst/>
          </a:prstGeom>
          <a:noFill/>
        </p:spPr>
        <p:txBody>
          <a:bodyPr wrap="square" tIns="25400" bIns="25400">
            <a:spAutoFit/>
          </a:bodyPr>
          <a:lstStyle/>
          <a:p>
            <a:pPr>
              <a:defRPr sz="1300" b="0" i="1">
                <a:solidFill>
                  <a:srgbClr val="222222"/>
                </a:solidFill>
              </a:defRPr>
            </a:pPr>
            <a:r>
              <a:t>E2 advantage is consistent: 7-9 % at Kathmandu, 6-7 % at Biratnagar. Spring is best at both (strongest irradiance, moderate ambient, best collector efficiency).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11480" y="201168"/>
            <a:ext cx="11338560" cy="502920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pPr>
              <a:defRPr sz="2600" b="1">
                <a:solidFill>
                  <a:srgbClr val="1F3A5F"/>
                </a:solidFill>
              </a:defRPr>
            </a:pPr>
            <a:r>
              <a:t>Key takeaways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749808"/>
            <a:ext cx="11338560" cy="320040"/>
          </a:xfrm>
          <a:prstGeom prst="rect">
            <a:avLst/>
          </a:prstGeom>
          <a:noFill/>
        </p:spPr>
        <p:txBody>
          <a:bodyPr wrap="none" tIns="0">
            <a:spAutoFit/>
          </a:bodyPr>
          <a:lstStyle/>
          <a:p>
            <a:pPr>
              <a:defRPr sz="1300" i="1">
                <a:solidFill>
                  <a:srgbClr val="555555"/>
                </a:solidFill>
              </a:defRPr>
            </a:pPr>
            <a:r>
              <a:t>Three things I want to leave you with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11480" y="1115568"/>
            <a:ext cx="11365992" cy="0"/>
          </a:xfrm>
          <a:prstGeom prst="line">
            <a:avLst/>
          </a:prstGeom>
          <a:ln w="1270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ectangle 4"/>
          <p:cNvSpPr/>
          <p:nvPr/>
        </p:nvSpPr>
        <p:spPr>
          <a:xfrm>
            <a:off x="457200" y="1554480"/>
            <a:ext cx="137160" cy="1280160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77240" y="1554480"/>
            <a:ext cx="10972800" cy="457200"/>
          </a:xfrm>
          <a:prstGeom prst="rect">
            <a:avLst/>
          </a:prstGeom>
          <a:noFill/>
        </p:spPr>
        <p:txBody>
          <a:bodyPr wrap="square" tIns="25400" bIns="25400">
            <a:spAutoFit/>
          </a:bodyPr>
          <a:lstStyle/>
          <a:p>
            <a:pPr>
              <a:defRPr sz="1800" b="1" i="0">
                <a:solidFill>
                  <a:srgbClr val="1F3A5F"/>
                </a:solidFill>
              </a:defRPr>
            </a:pPr>
            <a:r>
              <a:t>1. Put the solar upstream of the condenser.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2011680"/>
            <a:ext cx="10972800" cy="822960"/>
          </a:xfrm>
          <a:prstGeom prst="rect">
            <a:avLst/>
          </a:prstGeom>
          <a:noFill/>
        </p:spPr>
        <p:txBody>
          <a:bodyPr wrap="square" tIns="25400" bIns="25400">
            <a:spAutoFit/>
          </a:bodyPr>
          <a:lstStyle/>
          <a:p>
            <a:pPr>
              <a:defRPr sz="1300" b="0" i="0">
                <a:solidFill>
                  <a:srgbClr val="222222"/>
                </a:solidFill>
              </a:defRPr>
            </a:pPr>
            <a:r>
              <a:t>E2 beats E3 by 7-9 % SEC in every season at both climates. Collector inlet temperature dominates the combined efficiency of a series HP+solar topology.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3108960"/>
            <a:ext cx="137160" cy="1280160"/>
          </a:xfrm>
          <a:prstGeom prst="rect">
            <a:avLst/>
          </a:prstGeom>
          <a:solidFill>
            <a:srgbClr val="E56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77240" y="3108960"/>
            <a:ext cx="10972800" cy="457200"/>
          </a:xfrm>
          <a:prstGeom prst="rect">
            <a:avLst/>
          </a:prstGeom>
          <a:noFill/>
        </p:spPr>
        <p:txBody>
          <a:bodyPr wrap="square" tIns="25400" bIns="25400">
            <a:spAutoFit/>
          </a:bodyPr>
          <a:lstStyle/>
          <a:p>
            <a:pPr>
              <a:defRPr sz="1800" b="1" i="0">
                <a:solidFill>
                  <a:srgbClr val="1F3A5F"/>
                </a:solidFill>
              </a:defRPr>
            </a:pPr>
            <a:r>
              <a:t>2. Peak COP is a distraction. SEC is what matters.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3566160"/>
            <a:ext cx="10972800" cy="822960"/>
          </a:xfrm>
          <a:prstGeom prst="rect">
            <a:avLst/>
          </a:prstGeom>
          <a:noFill/>
        </p:spPr>
        <p:txBody>
          <a:bodyPr wrap="square" tIns="25400" bIns="25400">
            <a:spAutoFit/>
          </a:bodyPr>
          <a:lstStyle/>
          <a:p>
            <a:pPr>
              <a:defRPr sz="1300" b="0" i="0">
                <a:solidFill>
                  <a:srgbClr val="222222"/>
                </a:solidFill>
              </a:defRPr>
            </a:pPr>
            <a:r>
              <a:t>E3 has higher COP and zero clipping, yet loses on SEC. High COP on a smaller duty cycle can still cost more than low COP on a bigger one.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4663440"/>
            <a:ext cx="137160" cy="1280160"/>
          </a:xfrm>
          <a:prstGeom prst="rect">
            <a:avLst/>
          </a:prstGeom>
          <a:solidFill>
            <a:srgbClr val="F0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77240" y="4663440"/>
            <a:ext cx="10972800" cy="328295"/>
          </a:xfrm>
          <a:prstGeom prst="rect">
            <a:avLst/>
          </a:prstGeom>
          <a:noFill/>
        </p:spPr>
        <p:txBody>
          <a:bodyPr wrap="square" tIns="25400" bIns="25400">
            <a:spAutoFit/>
          </a:bodyPr>
          <a:lstStyle/>
          <a:p>
            <a:pPr>
              <a:defRPr sz="1800" b="1" i="0">
                <a:solidFill>
                  <a:srgbClr val="1F3A5F"/>
                </a:solidFill>
              </a:defRPr>
            </a:pPr>
            <a:r>
              <a:rPr dirty="0"/>
              <a:t>3. Clipping is a</a:t>
            </a:r>
            <a:r>
              <a:rPr lang="en-US" dirty="0"/>
              <a:t> sign to maybe add thermal storage</a:t>
            </a:r>
            <a:r>
              <a:rPr dirty="0"/>
              <a:t>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5120640"/>
            <a:ext cx="10972800" cy="822960"/>
          </a:xfrm>
          <a:prstGeom prst="rect">
            <a:avLst/>
          </a:prstGeom>
          <a:noFill/>
        </p:spPr>
        <p:txBody>
          <a:bodyPr wrap="square" tIns="25400" bIns="25400">
            <a:spAutoFit/>
          </a:bodyPr>
          <a:lstStyle/>
          <a:p>
            <a:pPr>
              <a:defRPr sz="1300" b="0" i="0">
                <a:solidFill>
                  <a:srgbClr val="222222"/>
                </a:solidFill>
              </a:defRPr>
            </a:pPr>
            <a:r>
              <a:t>Clipping happens every clear day, 6+ hours a day, because the stream state forces the HP to idle when solar alone reaches T_set. The fix is storage.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11480" y="201168"/>
            <a:ext cx="11338560" cy="502920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pPr>
              <a:defRPr sz="2600" b="1">
                <a:solidFill>
                  <a:srgbClr val="1F3A5F"/>
                </a:solidFill>
              </a:defRPr>
            </a:pPr>
            <a:r>
              <a:t>What's next: scale-up and thermal zones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749808"/>
            <a:ext cx="11338560" cy="320040"/>
          </a:xfrm>
          <a:prstGeom prst="rect">
            <a:avLst/>
          </a:prstGeom>
          <a:noFill/>
        </p:spPr>
        <p:txBody>
          <a:bodyPr wrap="none" tIns="0">
            <a:spAutoFit/>
          </a:bodyPr>
          <a:lstStyle/>
          <a:p>
            <a:pPr>
              <a:defRPr sz="1300" i="1">
                <a:solidFill>
                  <a:srgbClr val="555555"/>
                </a:solidFill>
              </a:defRPr>
            </a:pPr>
            <a:r>
              <a:t>Going from 3 kg dry (lab) to 500-1000 kg fresh (small commercial)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11480" y="1115568"/>
            <a:ext cx="11365992" cy="0"/>
          </a:xfrm>
          <a:prstGeom prst="line">
            <a:avLst/>
          </a:prstGeom>
          <a:ln w="1270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365760" y="1188720"/>
            <a:ext cx="5943600" cy="365760"/>
          </a:xfrm>
          <a:prstGeom prst="rect">
            <a:avLst/>
          </a:prstGeom>
          <a:noFill/>
        </p:spPr>
        <p:txBody>
          <a:bodyPr wrap="square" tIns="25400" bIns="25400">
            <a:spAutoFit/>
          </a:bodyPr>
          <a:lstStyle/>
          <a:p>
            <a:pPr>
              <a:defRPr sz="1300" b="1" i="0">
                <a:solidFill>
                  <a:srgbClr val="1F3A5F"/>
                </a:solidFill>
              </a:defRPr>
            </a:pPr>
            <a:r>
              <a:t>Multi-zone chamber concept (4 zones shown)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2286000"/>
            <a:ext cx="5852160" cy="2011680"/>
          </a:xfrm>
          <a:prstGeom prst="rect">
            <a:avLst/>
          </a:prstGeom>
          <a:solidFill>
            <a:srgbClr val="2A4A7F"/>
          </a:solidFill>
          <a:ln w="10160">
            <a:solidFill>
              <a:srgbClr val="2222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7" name="Connector 6"/>
          <p:cNvCxnSpPr/>
          <p:nvPr/>
        </p:nvCxnSpPr>
        <p:spPr>
          <a:xfrm>
            <a:off x="0" y="2423160"/>
            <a:ext cx="0" cy="1737360"/>
          </a:xfrm>
          <a:prstGeom prst="line">
            <a:avLst/>
          </a:prstGeom>
          <a:ln w="12700">
            <a:solidFill>
              <a:srgbClr val="FFFFFF"/>
            </a:solidFill>
            <a:prstDash val="lg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0" y="2423160"/>
            <a:ext cx="0" cy="1737360"/>
          </a:xfrm>
          <a:prstGeom prst="line">
            <a:avLst/>
          </a:prstGeom>
          <a:ln w="12700">
            <a:solidFill>
              <a:srgbClr val="FFFFFF"/>
            </a:solidFill>
            <a:prstDash val="lg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0" y="2423160"/>
            <a:ext cx="0" cy="1737360"/>
          </a:xfrm>
          <a:prstGeom prst="line">
            <a:avLst/>
          </a:prstGeom>
          <a:ln w="12700">
            <a:solidFill>
              <a:srgbClr val="FFFFFF"/>
            </a:solidFill>
            <a:prstDash val="lg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548640" y="3017520"/>
            <a:ext cx="1097280" cy="274320"/>
          </a:xfrm>
          <a:prstGeom prst="rect">
            <a:avLst/>
          </a:prstGeom>
          <a:noFill/>
        </p:spPr>
        <p:txBody>
          <a:bodyPr wrap="square" tIns="25400" bIns="25400">
            <a:spAutoFit/>
          </a:bodyPr>
          <a:lstStyle/>
          <a:p>
            <a:pPr algn="ctr">
              <a:defRPr sz="1100" b="1" i="0">
                <a:solidFill>
                  <a:srgbClr val="FFFFFF"/>
                </a:solidFill>
              </a:defRPr>
            </a:pPr>
            <a:r>
              <a:t>Zone 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3383280"/>
            <a:ext cx="1097280" cy="274320"/>
          </a:xfrm>
          <a:prstGeom prst="rect">
            <a:avLst/>
          </a:prstGeom>
          <a:noFill/>
        </p:spPr>
        <p:txBody>
          <a:bodyPr wrap="square" tIns="25400" bIns="25400">
            <a:spAutoFit/>
          </a:bodyPr>
          <a:lstStyle/>
          <a:p>
            <a:pPr algn="ctr">
              <a:defRPr sz="900" b="0" i="1">
                <a:solidFill>
                  <a:srgbClr val="EEEEEE"/>
                </a:solidFill>
              </a:defRPr>
            </a:pPr>
            <a:r>
              <a:t>trays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11680" y="3017520"/>
            <a:ext cx="1097280" cy="274320"/>
          </a:xfrm>
          <a:prstGeom prst="rect">
            <a:avLst/>
          </a:prstGeom>
          <a:noFill/>
        </p:spPr>
        <p:txBody>
          <a:bodyPr wrap="square" tIns="25400" bIns="25400">
            <a:spAutoFit/>
          </a:bodyPr>
          <a:lstStyle/>
          <a:p>
            <a:pPr algn="ctr">
              <a:defRPr sz="1100" b="1" i="0">
                <a:solidFill>
                  <a:srgbClr val="FFFFFF"/>
                </a:solidFill>
              </a:defRPr>
            </a:pPr>
            <a:r>
              <a:t>Zone 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011680" y="3383280"/>
            <a:ext cx="1097280" cy="274320"/>
          </a:xfrm>
          <a:prstGeom prst="rect">
            <a:avLst/>
          </a:prstGeom>
          <a:noFill/>
        </p:spPr>
        <p:txBody>
          <a:bodyPr wrap="square" tIns="25400" bIns="25400">
            <a:spAutoFit/>
          </a:bodyPr>
          <a:lstStyle/>
          <a:p>
            <a:pPr algn="ctr">
              <a:defRPr sz="900" b="0" i="1">
                <a:solidFill>
                  <a:srgbClr val="EEEEEE"/>
                </a:solidFill>
              </a:defRPr>
            </a:pPr>
            <a:r>
              <a:t>trays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74720" y="3017520"/>
            <a:ext cx="1097280" cy="274320"/>
          </a:xfrm>
          <a:prstGeom prst="rect">
            <a:avLst/>
          </a:prstGeom>
          <a:noFill/>
        </p:spPr>
        <p:txBody>
          <a:bodyPr wrap="square" tIns="25400" bIns="25400">
            <a:spAutoFit/>
          </a:bodyPr>
          <a:lstStyle/>
          <a:p>
            <a:pPr algn="ctr">
              <a:defRPr sz="1100" b="1" i="0">
                <a:solidFill>
                  <a:srgbClr val="FFFFFF"/>
                </a:solidFill>
              </a:defRPr>
            </a:pPr>
            <a:r>
              <a:t>Zone 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74720" y="3383280"/>
            <a:ext cx="1097280" cy="274320"/>
          </a:xfrm>
          <a:prstGeom prst="rect">
            <a:avLst/>
          </a:prstGeom>
          <a:noFill/>
        </p:spPr>
        <p:txBody>
          <a:bodyPr wrap="square" tIns="25400" bIns="25400">
            <a:spAutoFit/>
          </a:bodyPr>
          <a:lstStyle/>
          <a:p>
            <a:pPr algn="ctr">
              <a:defRPr sz="900" b="0" i="1">
                <a:solidFill>
                  <a:srgbClr val="EEEEEE"/>
                </a:solidFill>
              </a:defRPr>
            </a:pPr>
            <a:r>
              <a:t>trays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937760" y="3017520"/>
            <a:ext cx="1097280" cy="274320"/>
          </a:xfrm>
          <a:prstGeom prst="rect">
            <a:avLst/>
          </a:prstGeom>
          <a:noFill/>
        </p:spPr>
        <p:txBody>
          <a:bodyPr wrap="square" tIns="25400" bIns="25400">
            <a:spAutoFit/>
          </a:bodyPr>
          <a:lstStyle/>
          <a:p>
            <a:pPr algn="ctr">
              <a:defRPr sz="1100" b="1" i="0">
                <a:solidFill>
                  <a:srgbClr val="FFFFFF"/>
                </a:solidFill>
              </a:defRPr>
            </a:pPr>
            <a:r>
              <a:t>Zone 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937760" y="3383280"/>
            <a:ext cx="1097280" cy="274320"/>
          </a:xfrm>
          <a:prstGeom prst="rect">
            <a:avLst/>
          </a:prstGeom>
          <a:noFill/>
        </p:spPr>
        <p:txBody>
          <a:bodyPr wrap="square" tIns="25400" bIns="25400">
            <a:spAutoFit/>
          </a:bodyPr>
          <a:lstStyle/>
          <a:p>
            <a:pPr algn="ctr">
              <a:defRPr sz="900" b="0" i="1">
                <a:solidFill>
                  <a:srgbClr val="EEEEEE"/>
                </a:solidFill>
              </a:defRPr>
            </a:pPr>
            <a:r>
              <a:t>trays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8640" y="1463040"/>
            <a:ext cx="5486400" cy="320040"/>
          </a:xfrm>
          <a:prstGeom prst="rect">
            <a:avLst/>
          </a:prstGeom>
          <a:solidFill>
            <a:srgbClr val="E56B4A"/>
          </a:solidFill>
          <a:ln>
            <a:solidFill>
              <a:srgbClr val="2222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48640" y="1490472"/>
            <a:ext cx="5486400" cy="274320"/>
          </a:xfrm>
          <a:prstGeom prst="rect">
            <a:avLst/>
          </a:prstGeom>
          <a:noFill/>
        </p:spPr>
        <p:txBody>
          <a:bodyPr wrap="square" tIns="25400" bIns="25400">
            <a:spAutoFit/>
          </a:bodyPr>
          <a:lstStyle/>
          <a:p>
            <a:pPr algn="ctr">
              <a:defRPr sz="1000" b="1" i="0">
                <a:solidFill>
                  <a:srgbClr val="FFFFFF"/>
                </a:solidFill>
              </a:defRPr>
            </a:pPr>
            <a:r>
              <a:t>Hot-air distribution manifold (from Cond + Solar)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0" y="1783080"/>
            <a:ext cx="0" cy="502920"/>
          </a:xfrm>
          <a:prstGeom prst="line">
            <a:avLst/>
          </a:prstGeom>
          <a:ln w="19050">
            <a:solidFill>
              <a:srgbClr val="E56B4A"/>
            </a:solidFill>
            <a:tailEnd type="triangle" w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0" y="1783080"/>
            <a:ext cx="0" cy="502920"/>
          </a:xfrm>
          <a:prstGeom prst="line">
            <a:avLst/>
          </a:prstGeom>
          <a:ln w="19050">
            <a:solidFill>
              <a:srgbClr val="E56B4A"/>
            </a:solidFill>
            <a:tailEnd type="triangle" w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0" y="1783080"/>
            <a:ext cx="0" cy="502920"/>
          </a:xfrm>
          <a:prstGeom prst="line">
            <a:avLst/>
          </a:prstGeom>
          <a:ln w="19050">
            <a:solidFill>
              <a:srgbClr val="E56B4A"/>
            </a:solidFill>
            <a:tailEnd type="triangle" w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0" y="1783080"/>
            <a:ext cx="0" cy="502920"/>
          </a:xfrm>
          <a:prstGeom prst="line">
            <a:avLst/>
          </a:prstGeom>
          <a:ln w="19050">
            <a:solidFill>
              <a:srgbClr val="E56B4A"/>
            </a:solidFill>
            <a:tailEnd type="triangle" w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0" y="4297680"/>
            <a:ext cx="0" cy="411480"/>
          </a:xfrm>
          <a:prstGeom prst="line">
            <a:avLst/>
          </a:prstGeom>
          <a:ln w="16510">
            <a:solidFill>
              <a:srgbClr val="555555"/>
            </a:solidFill>
            <a:tailEnd type="triangle" w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0" y="4297680"/>
            <a:ext cx="0" cy="411480"/>
          </a:xfrm>
          <a:prstGeom prst="line">
            <a:avLst/>
          </a:prstGeom>
          <a:ln w="16510">
            <a:solidFill>
              <a:srgbClr val="555555"/>
            </a:solidFill>
            <a:tailEnd type="triangle" w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0" y="4297680"/>
            <a:ext cx="0" cy="411480"/>
          </a:xfrm>
          <a:prstGeom prst="line">
            <a:avLst/>
          </a:prstGeom>
          <a:ln w="16510">
            <a:solidFill>
              <a:srgbClr val="555555"/>
            </a:solidFill>
            <a:tailEnd type="triangle" w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0" y="4297680"/>
            <a:ext cx="0" cy="411480"/>
          </a:xfrm>
          <a:prstGeom prst="line">
            <a:avLst/>
          </a:prstGeom>
          <a:ln w="16510">
            <a:solidFill>
              <a:srgbClr val="555555"/>
            </a:solidFill>
            <a:tailEnd type="triangle" w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ectangle 27"/>
          <p:cNvSpPr/>
          <p:nvPr/>
        </p:nvSpPr>
        <p:spPr>
          <a:xfrm>
            <a:off x="548640" y="4709160"/>
            <a:ext cx="5486400" cy="274320"/>
          </a:xfrm>
          <a:prstGeom prst="rect">
            <a:avLst/>
          </a:prstGeom>
          <a:solidFill>
            <a:srgbClr val="555555"/>
          </a:solidFill>
          <a:ln>
            <a:solidFill>
              <a:srgbClr val="2222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548640" y="4727448"/>
            <a:ext cx="5486400" cy="256032"/>
          </a:xfrm>
          <a:prstGeom prst="rect">
            <a:avLst/>
          </a:prstGeom>
          <a:noFill/>
        </p:spPr>
        <p:txBody>
          <a:bodyPr wrap="square" tIns="25400" bIns="25400">
            <a:spAutoFit/>
          </a:bodyPr>
          <a:lstStyle/>
          <a:p>
            <a:pPr algn="ctr">
              <a:defRPr sz="1000" b="1" i="0">
                <a:solidFill>
                  <a:srgbClr val="FFFFFF"/>
                </a:solidFill>
              </a:defRPr>
            </a:pPr>
            <a:r>
              <a:t>Exhaust plenum → back to HRX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65760" y="5394960"/>
            <a:ext cx="5852160" cy="457200"/>
          </a:xfrm>
          <a:prstGeom prst="rect">
            <a:avLst/>
          </a:prstGeom>
          <a:noFill/>
        </p:spPr>
        <p:txBody>
          <a:bodyPr wrap="square" tIns="25400" bIns="25400">
            <a:spAutoFit/>
          </a:bodyPr>
          <a:lstStyle/>
          <a:p>
            <a:pPr>
              <a:defRPr sz="1000" b="0" i="1">
                <a:solidFill>
                  <a:srgbClr val="555555"/>
                </a:solidFill>
              </a:defRPr>
            </a:pPr>
            <a:r>
              <a:t>Each zone gets fresh 45 °C air via the manifold; each zone's exhaust routes back through its own HRX branch.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519545" y="1115568"/>
            <a:ext cx="5303520" cy="5212080"/>
          </a:xfrm>
          <a:prstGeom prst="roundRect">
            <a:avLst/>
          </a:prstGeom>
          <a:solidFill>
            <a:srgbClr val="EEEEEE"/>
          </a:solidFill>
          <a:ln>
            <a:solidFill>
              <a:srgbClr val="1F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6675120" y="1371600"/>
            <a:ext cx="5120640" cy="365760"/>
          </a:xfrm>
          <a:prstGeom prst="rect">
            <a:avLst/>
          </a:prstGeom>
          <a:noFill/>
        </p:spPr>
        <p:txBody>
          <a:bodyPr wrap="square" tIns="25400" bIns="25400">
            <a:spAutoFit/>
          </a:bodyPr>
          <a:lstStyle/>
          <a:p>
            <a:pPr>
              <a:defRPr sz="1400" b="1" i="0">
                <a:solidFill>
                  <a:srgbClr val="1F3A5F"/>
                </a:solidFill>
              </a:defRPr>
            </a:pPr>
            <a:r>
              <a:t>Capacity scaling (rough)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675120" y="1828800"/>
            <a:ext cx="2011680" cy="320040"/>
          </a:xfrm>
          <a:prstGeom prst="rect">
            <a:avLst/>
          </a:prstGeom>
          <a:noFill/>
        </p:spPr>
        <p:txBody>
          <a:bodyPr wrap="square" tIns="25400" bIns="25400">
            <a:spAutoFit/>
          </a:bodyPr>
          <a:lstStyle/>
          <a:p>
            <a:pPr>
              <a:defRPr sz="1100" b="1" i="0">
                <a:solidFill>
                  <a:srgbClr val="1F3A5F"/>
                </a:solidFill>
              </a:defRPr>
            </a:pPr>
            <a:r>
              <a:t>Dry mass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686800" y="1828800"/>
            <a:ext cx="1005840" cy="320040"/>
          </a:xfrm>
          <a:prstGeom prst="rect">
            <a:avLst/>
          </a:prstGeom>
          <a:noFill/>
        </p:spPr>
        <p:txBody>
          <a:bodyPr wrap="square" tIns="25400" bIns="25400">
            <a:spAutoFit/>
          </a:bodyPr>
          <a:lstStyle/>
          <a:p>
            <a:pPr>
              <a:defRPr sz="1100" b="1" i="0">
                <a:solidFill>
                  <a:srgbClr val="1F3A5F"/>
                </a:solidFill>
              </a:defRPr>
            </a:pPr>
            <a:r>
              <a:t>3 kg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692640" y="1828800"/>
            <a:ext cx="1005840" cy="320040"/>
          </a:xfrm>
          <a:prstGeom prst="rect">
            <a:avLst/>
          </a:prstGeom>
          <a:noFill/>
        </p:spPr>
        <p:txBody>
          <a:bodyPr wrap="square" tIns="25400" bIns="25400">
            <a:spAutoFit/>
          </a:bodyPr>
          <a:lstStyle/>
          <a:p>
            <a:pPr>
              <a:defRPr sz="1100" b="1" i="0">
                <a:solidFill>
                  <a:srgbClr val="1F3A5F"/>
                </a:solidFill>
              </a:defRPr>
            </a:pPr>
            <a:r>
              <a:t>70 kg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698480" y="1828800"/>
            <a:ext cx="1005840" cy="320040"/>
          </a:xfrm>
          <a:prstGeom prst="rect">
            <a:avLst/>
          </a:prstGeom>
          <a:noFill/>
        </p:spPr>
        <p:txBody>
          <a:bodyPr wrap="square" tIns="25400" bIns="25400">
            <a:spAutoFit/>
          </a:bodyPr>
          <a:lstStyle/>
          <a:p>
            <a:pPr>
              <a:defRPr sz="1100" b="1" i="0">
                <a:solidFill>
                  <a:srgbClr val="1F3A5F"/>
                </a:solidFill>
              </a:defRPr>
            </a:pPr>
            <a:r>
              <a:t>140 kg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675120" y="2176272"/>
            <a:ext cx="2011680" cy="320040"/>
          </a:xfrm>
          <a:prstGeom prst="rect">
            <a:avLst/>
          </a:prstGeom>
          <a:noFill/>
        </p:spPr>
        <p:txBody>
          <a:bodyPr wrap="square" tIns="25400" bIns="25400">
            <a:spAutoFit/>
          </a:bodyPr>
          <a:lstStyle/>
          <a:p>
            <a:pPr>
              <a:defRPr sz="1100" b="1" i="0">
                <a:solidFill>
                  <a:srgbClr val="1F3A5F"/>
                </a:solidFill>
              </a:defRPr>
            </a:pPr>
            <a:r>
              <a:t>Fresh mass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686800" y="2176272"/>
            <a:ext cx="1005840" cy="320040"/>
          </a:xfrm>
          <a:prstGeom prst="rect">
            <a:avLst/>
          </a:prstGeom>
          <a:noFill/>
        </p:spPr>
        <p:txBody>
          <a:bodyPr wrap="square" tIns="25400" bIns="25400">
            <a:spAutoFit/>
          </a:bodyPr>
          <a:lstStyle/>
          <a:p>
            <a:pPr>
              <a:defRPr sz="1100" b="0" i="0">
                <a:solidFill>
                  <a:srgbClr val="222222"/>
                </a:solidFill>
              </a:defRPr>
            </a:pPr>
            <a:r>
              <a:t>22.5 kg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692640" y="2176272"/>
            <a:ext cx="1005840" cy="320040"/>
          </a:xfrm>
          <a:prstGeom prst="rect">
            <a:avLst/>
          </a:prstGeom>
          <a:noFill/>
        </p:spPr>
        <p:txBody>
          <a:bodyPr wrap="square" tIns="25400" bIns="25400">
            <a:spAutoFit/>
          </a:bodyPr>
          <a:lstStyle/>
          <a:p>
            <a:pPr>
              <a:defRPr sz="1100" b="0" i="0">
                <a:solidFill>
                  <a:srgbClr val="222222"/>
                </a:solidFill>
              </a:defRPr>
            </a:pPr>
            <a:r>
              <a:t>500 kg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698480" y="2176272"/>
            <a:ext cx="1005840" cy="320040"/>
          </a:xfrm>
          <a:prstGeom prst="rect">
            <a:avLst/>
          </a:prstGeom>
          <a:noFill/>
        </p:spPr>
        <p:txBody>
          <a:bodyPr wrap="square" tIns="25400" bIns="25400">
            <a:spAutoFit/>
          </a:bodyPr>
          <a:lstStyle/>
          <a:p>
            <a:pPr>
              <a:defRPr sz="1100" b="0" i="0">
                <a:solidFill>
                  <a:srgbClr val="222222"/>
                </a:solidFill>
              </a:defRPr>
            </a:pPr>
            <a:r>
              <a:t>1000 kg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675120" y="2523744"/>
            <a:ext cx="2011680" cy="320040"/>
          </a:xfrm>
          <a:prstGeom prst="rect">
            <a:avLst/>
          </a:prstGeom>
          <a:noFill/>
        </p:spPr>
        <p:txBody>
          <a:bodyPr wrap="square" tIns="25400" bIns="25400">
            <a:spAutoFit/>
          </a:bodyPr>
          <a:lstStyle/>
          <a:p>
            <a:pPr>
              <a:defRPr sz="1100" b="1" i="0">
                <a:solidFill>
                  <a:srgbClr val="1F3A5F"/>
                </a:solidFill>
              </a:defRPr>
            </a:pPr>
            <a:r>
              <a:t>Water removed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686800" y="2523744"/>
            <a:ext cx="1005840" cy="320040"/>
          </a:xfrm>
          <a:prstGeom prst="rect">
            <a:avLst/>
          </a:prstGeom>
          <a:noFill/>
        </p:spPr>
        <p:txBody>
          <a:bodyPr wrap="square" tIns="25400" bIns="25400">
            <a:spAutoFit/>
          </a:bodyPr>
          <a:lstStyle/>
          <a:p>
            <a:pPr>
              <a:defRPr sz="1100" b="0" i="0">
                <a:solidFill>
                  <a:srgbClr val="222222"/>
                </a:solidFill>
              </a:defRPr>
            </a:pPr>
            <a:r>
              <a:t>19.2 kg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692640" y="2523744"/>
            <a:ext cx="1005840" cy="320040"/>
          </a:xfrm>
          <a:prstGeom prst="rect">
            <a:avLst/>
          </a:prstGeom>
          <a:noFill/>
        </p:spPr>
        <p:txBody>
          <a:bodyPr wrap="square" tIns="25400" bIns="25400">
            <a:spAutoFit/>
          </a:bodyPr>
          <a:lstStyle/>
          <a:p>
            <a:pPr>
              <a:defRPr sz="1100" b="0" i="0">
                <a:solidFill>
                  <a:srgbClr val="222222"/>
                </a:solidFill>
              </a:defRPr>
            </a:pPr>
            <a:r>
              <a:t>427 kg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698480" y="2523744"/>
            <a:ext cx="1005840" cy="320040"/>
          </a:xfrm>
          <a:prstGeom prst="rect">
            <a:avLst/>
          </a:prstGeom>
          <a:noFill/>
        </p:spPr>
        <p:txBody>
          <a:bodyPr wrap="square" tIns="25400" bIns="25400">
            <a:spAutoFit/>
          </a:bodyPr>
          <a:lstStyle/>
          <a:p>
            <a:pPr>
              <a:defRPr sz="1100" b="0" i="0">
                <a:solidFill>
                  <a:srgbClr val="222222"/>
                </a:solidFill>
              </a:defRPr>
            </a:pPr>
            <a:r>
              <a:t>854 kg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675120" y="2871216"/>
            <a:ext cx="2011680" cy="320040"/>
          </a:xfrm>
          <a:prstGeom prst="rect">
            <a:avLst/>
          </a:prstGeom>
          <a:noFill/>
        </p:spPr>
        <p:txBody>
          <a:bodyPr wrap="square" tIns="25400" bIns="25400">
            <a:spAutoFit/>
          </a:bodyPr>
          <a:lstStyle/>
          <a:p>
            <a:pPr>
              <a:defRPr sz="1100" b="1" i="0">
                <a:solidFill>
                  <a:srgbClr val="1F3A5F"/>
                </a:solidFill>
              </a:defRPr>
            </a:pPr>
            <a:r>
              <a:t>Scale factor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686800" y="2871216"/>
            <a:ext cx="1005840" cy="320040"/>
          </a:xfrm>
          <a:prstGeom prst="rect">
            <a:avLst/>
          </a:prstGeom>
          <a:noFill/>
        </p:spPr>
        <p:txBody>
          <a:bodyPr wrap="square" tIns="25400" bIns="25400">
            <a:spAutoFit/>
          </a:bodyPr>
          <a:lstStyle/>
          <a:p>
            <a:pPr>
              <a:defRPr sz="1100" b="0" i="0">
                <a:solidFill>
                  <a:srgbClr val="222222"/>
                </a:solidFill>
              </a:defRPr>
            </a:pPr>
            <a:r>
              <a:t>1×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692640" y="2871216"/>
            <a:ext cx="1005840" cy="320040"/>
          </a:xfrm>
          <a:prstGeom prst="rect">
            <a:avLst/>
          </a:prstGeom>
          <a:noFill/>
        </p:spPr>
        <p:txBody>
          <a:bodyPr wrap="square" tIns="25400" bIns="25400">
            <a:spAutoFit/>
          </a:bodyPr>
          <a:lstStyle/>
          <a:p>
            <a:pPr>
              <a:defRPr sz="1100" b="0" i="0">
                <a:solidFill>
                  <a:srgbClr val="222222"/>
                </a:solidFill>
              </a:defRPr>
            </a:pPr>
            <a:r>
              <a:t>22×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0698480" y="2871216"/>
            <a:ext cx="1005840" cy="320040"/>
          </a:xfrm>
          <a:prstGeom prst="rect">
            <a:avLst/>
          </a:prstGeom>
          <a:noFill/>
        </p:spPr>
        <p:txBody>
          <a:bodyPr wrap="square" tIns="25400" bIns="25400">
            <a:spAutoFit/>
          </a:bodyPr>
          <a:lstStyle/>
          <a:p>
            <a:pPr>
              <a:defRPr sz="1100" b="0" i="0">
                <a:solidFill>
                  <a:srgbClr val="222222"/>
                </a:solidFill>
              </a:defRPr>
            </a:pPr>
            <a:r>
              <a:t>44×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675120" y="3218688"/>
            <a:ext cx="2011680" cy="320040"/>
          </a:xfrm>
          <a:prstGeom prst="rect">
            <a:avLst/>
          </a:prstGeom>
          <a:noFill/>
        </p:spPr>
        <p:txBody>
          <a:bodyPr wrap="square" tIns="25400" bIns="25400">
            <a:spAutoFit/>
          </a:bodyPr>
          <a:lstStyle/>
          <a:p>
            <a:pPr>
              <a:defRPr sz="1100" b="1" i="0">
                <a:solidFill>
                  <a:srgbClr val="1F3A5F"/>
                </a:solidFill>
              </a:defRPr>
            </a:pPr>
            <a:r>
              <a:t>Trays (current geometry)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686800" y="3218688"/>
            <a:ext cx="1005840" cy="320040"/>
          </a:xfrm>
          <a:prstGeom prst="rect">
            <a:avLst/>
          </a:prstGeom>
          <a:noFill/>
        </p:spPr>
        <p:txBody>
          <a:bodyPr wrap="square" tIns="25400" bIns="25400">
            <a:spAutoFit/>
          </a:bodyPr>
          <a:lstStyle/>
          <a:p>
            <a:pPr>
              <a:defRPr sz="1100" b="0" i="0">
                <a:solidFill>
                  <a:srgbClr val="222222"/>
                </a:solidFill>
              </a:defRPr>
            </a:pPr>
            <a:r>
              <a:t>10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692640" y="3218688"/>
            <a:ext cx="1005840" cy="320040"/>
          </a:xfrm>
          <a:prstGeom prst="rect">
            <a:avLst/>
          </a:prstGeom>
          <a:noFill/>
        </p:spPr>
        <p:txBody>
          <a:bodyPr wrap="square" tIns="25400" bIns="25400">
            <a:spAutoFit/>
          </a:bodyPr>
          <a:lstStyle/>
          <a:p>
            <a:pPr>
              <a:defRPr sz="1100" b="0" i="0">
                <a:solidFill>
                  <a:srgbClr val="222222"/>
                </a:solidFill>
              </a:defRPr>
            </a:pPr>
            <a:r>
              <a:t>~220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0698480" y="3218688"/>
            <a:ext cx="1005840" cy="320040"/>
          </a:xfrm>
          <a:prstGeom prst="rect">
            <a:avLst/>
          </a:prstGeom>
          <a:noFill/>
        </p:spPr>
        <p:txBody>
          <a:bodyPr wrap="square" tIns="25400" bIns="25400">
            <a:spAutoFit/>
          </a:bodyPr>
          <a:lstStyle/>
          <a:p>
            <a:pPr>
              <a:defRPr sz="1100" b="0" i="0">
                <a:solidFill>
                  <a:srgbClr val="222222"/>
                </a:solidFill>
              </a:defRPr>
            </a:pPr>
            <a:r>
              <a:t>~440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675120" y="3566160"/>
            <a:ext cx="2011680" cy="320040"/>
          </a:xfrm>
          <a:prstGeom prst="rect">
            <a:avLst/>
          </a:prstGeom>
          <a:noFill/>
        </p:spPr>
        <p:txBody>
          <a:bodyPr wrap="square" tIns="25400" bIns="25400">
            <a:spAutoFit/>
          </a:bodyPr>
          <a:lstStyle/>
          <a:p>
            <a:pPr>
              <a:defRPr sz="1100" b="1" i="0">
                <a:solidFill>
                  <a:srgbClr val="1F3A5F"/>
                </a:solidFill>
              </a:defRPr>
            </a:pPr>
            <a:r>
              <a:t>Collector area (same SEC)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8686800" y="3566160"/>
            <a:ext cx="1005840" cy="320040"/>
          </a:xfrm>
          <a:prstGeom prst="rect">
            <a:avLst/>
          </a:prstGeom>
          <a:noFill/>
        </p:spPr>
        <p:txBody>
          <a:bodyPr wrap="square" tIns="25400" bIns="25400">
            <a:spAutoFit/>
          </a:bodyPr>
          <a:lstStyle/>
          <a:p>
            <a:pPr>
              <a:defRPr sz="1100" b="0" i="0">
                <a:solidFill>
                  <a:srgbClr val="222222"/>
                </a:solidFill>
              </a:defRPr>
            </a:pPr>
            <a:r>
              <a:t>10 m²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9692640" y="3566160"/>
            <a:ext cx="1005840" cy="320040"/>
          </a:xfrm>
          <a:prstGeom prst="rect">
            <a:avLst/>
          </a:prstGeom>
          <a:noFill/>
        </p:spPr>
        <p:txBody>
          <a:bodyPr wrap="square" tIns="25400" bIns="25400">
            <a:spAutoFit/>
          </a:bodyPr>
          <a:lstStyle/>
          <a:p>
            <a:pPr>
              <a:defRPr sz="1100" b="0" i="0">
                <a:solidFill>
                  <a:srgbClr val="222222"/>
                </a:solidFill>
              </a:defRPr>
            </a:pPr>
            <a:r>
              <a:t>220 m²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0698480" y="3566160"/>
            <a:ext cx="1005840" cy="320040"/>
          </a:xfrm>
          <a:prstGeom prst="rect">
            <a:avLst/>
          </a:prstGeom>
          <a:noFill/>
        </p:spPr>
        <p:txBody>
          <a:bodyPr wrap="square" tIns="25400" bIns="25400">
            <a:spAutoFit/>
          </a:bodyPr>
          <a:lstStyle/>
          <a:p>
            <a:pPr>
              <a:defRPr sz="1100" b="0" i="0">
                <a:solidFill>
                  <a:srgbClr val="222222"/>
                </a:solidFill>
              </a:defRPr>
            </a:pPr>
            <a:r>
              <a:t>440 m²</a:t>
            </a:r>
          </a:p>
        </p:txBody>
      </p:sp>
      <p:sp>
        <p:nvSpPr>
          <p:cNvPr id="57" name="Rectangle 56"/>
          <p:cNvSpPr/>
          <p:nvPr/>
        </p:nvSpPr>
        <p:spPr>
          <a:xfrm>
            <a:off x="6675120" y="1783080"/>
            <a:ext cx="5029200" cy="27432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TextBox 57"/>
          <p:cNvSpPr txBox="1"/>
          <p:nvPr/>
        </p:nvSpPr>
        <p:spPr>
          <a:xfrm>
            <a:off x="6675120" y="4069080"/>
            <a:ext cx="5120640" cy="365760"/>
          </a:xfrm>
          <a:prstGeom prst="rect">
            <a:avLst/>
          </a:prstGeom>
          <a:noFill/>
        </p:spPr>
        <p:txBody>
          <a:bodyPr wrap="square" tIns="25400" bIns="25400">
            <a:spAutoFit/>
          </a:bodyPr>
          <a:lstStyle/>
          <a:p>
            <a:pPr>
              <a:defRPr sz="1300" b="1" i="0">
                <a:solidFill>
                  <a:srgbClr val="1F3A5F"/>
                </a:solidFill>
              </a:defRPr>
            </a:pPr>
            <a:r>
              <a:t>Why thermal zones (not longer single chamber)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6675120" y="4434840"/>
            <a:ext cx="5212080" cy="89133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defRPr sz="1100">
                <a:solidFill>
                  <a:srgbClr val="222222"/>
                </a:solidFill>
              </a:defRPr>
            </a:pPr>
            <a:r>
              <a:rPr dirty="0"/>
              <a:t>•  Multi-inlet per zone → every zone operates in high-VPD region → shorter, more uniform drying.</a:t>
            </a:r>
          </a:p>
          <a:p>
            <a:pPr>
              <a:lnSpc>
                <a:spcPct val="120000"/>
              </a:lnSpc>
              <a:defRPr sz="1100">
                <a:solidFill>
                  <a:srgbClr val="222222"/>
                </a:solidFill>
              </a:defRPr>
            </a:pPr>
            <a:r>
              <a:rPr dirty="0"/>
              <a:t>•  Per-zone VPD bypass control becomes natural: dry zones can go </a:t>
            </a:r>
            <a:r>
              <a:rPr dirty="0" err="1"/>
              <a:t>cond</a:t>
            </a:r>
            <a:r>
              <a:rPr dirty="0"/>
              <a:t>-direct early.</a:t>
            </a:r>
          </a:p>
          <a:p>
            <a:pPr>
              <a:lnSpc>
                <a:spcPct val="120000"/>
              </a:lnSpc>
              <a:defRPr sz="1100">
                <a:solidFill>
                  <a:srgbClr val="222222"/>
                </a:solidFill>
              </a:defRPr>
            </a:pPr>
            <a:r>
              <a:rPr dirty="0"/>
              <a:t>•  Caveat: needs distribution manifold + multi-fan + control logic.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567</TotalTime>
  <Words>3156</Words>
  <Application>Microsoft Office PowerPoint</Application>
  <PresentationFormat>Custom</PresentationFormat>
  <Paragraphs>325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>sarwagya wasti</dc:creator>
  <cp:keywords/>
  <dc:description>generated using python-pptx</dc:description>
  <cp:lastModifiedBy>sarwagya wasti</cp:lastModifiedBy>
  <cp:revision>16</cp:revision>
  <dcterms:created xsi:type="dcterms:W3CDTF">2013-01-27T09:14:16Z</dcterms:created>
  <dcterms:modified xsi:type="dcterms:W3CDTF">2026-04-20T20:20:05Z</dcterms:modified>
  <cp:category/>
</cp:coreProperties>
</file>